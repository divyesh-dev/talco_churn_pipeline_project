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Calibri (MS) Bold" charset="1" panose="020F0702030404030204"/>
      <p:regular r:id="rId30"/>
    </p:embeddedFont>
    <p:embeddedFont>
      <p:font typeface="Calibri (MS)" charset="1" panose="020F0502020204030204"/>
      <p:regular r:id="rId31"/>
    </p:embeddedFont>
    <p:embeddedFont>
      <p:font typeface="Calibri (MS) Italics" charset="1" panose="020F05020202040A0204"/>
      <p:regular r:id="rId35"/>
    </p:embeddedFont>
    <p:embeddedFont>
      <p:font typeface="Courier New" charset="1" panose="02070309020205020404"/>
      <p:regular r:id="rId5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notesMasters/notesMaster1.xml" Type="http://schemas.openxmlformats.org/officeDocument/2006/relationships/notesMaster"/><Relationship Id="rId28" Target="theme/theme2.xml" Type="http://schemas.openxmlformats.org/officeDocument/2006/relationships/theme"/><Relationship Id="rId29" Target="notesSlides/notesSlide1.xml" Type="http://schemas.openxmlformats.org/officeDocument/2006/relationships/notes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notesSlides/notesSlide2.xml" Type="http://schemas.openxmlformats.org/officeDocument/2006/relationships/notesSlide"/><Relationship Id="rId33" Target="notesSlides/notesSlide3.xml" Type="http://schemas.openxmlformats.org/officeDocument/2006/relationships/notesSlide"/><Relationship Id="rId34" Target="notesSlides/notesSlide4.xml" Type="http://schemas.openxmlformats.org/officeDocument/2006/relationships/notesSlide"/><Relationship Id="rId35" Target="fonts/font35.fntdata" Type="http://schemas.openxmlformats.org/officeDocument/2006/relationships/font"/><Relationship Id="rId36" Target="notesSlides/notesSlide5.xml" Type="http://schemas.openxmlformats.org/officeDocument/2006/relationships/notesSlide"/><Relationship Id="rId37" Target="notesSlides/notesSlide6.xml" Type="http://schemas.openxmlformats.org/officeDocument/2006/relationships/notesSlide"/><Relationship Id="rId38" Target="notesSlides/notesSlide7.xml" Type="http://schemas.openxmlformats.org/officeDocument/2006/relationships/notesSlide"/><Relationship Id="rId39" Target="notesSlides/notesSlide8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9.xml" Type="http://schemas.openxmlformats.org/officeDocument/2006/relationships/notesSlide"/><Relationship Id="rId41" Target="notesSlides/notesSlide10.xml" Type="http://schemas.openxmlformats.org/officeDocument/2006/relationships/notesSlide"/><Relationship Id="rId42" Target="notesSlides/notesSlide11.xml" Type="http://schemas.openxmlformats.org/officeDocument/2006/relationships/notesSlide"/><Relationship Id="rId43" Target="notesSlides/notesSlide12.xml" Type="http://schemas.openxmlformats.org/officeDocument/2006/relationships/notesSlide"/><Relationship Id="rId44" Target="notesSlides/notesSlide13.xml" Type="http://schemas.openxmlformats.org/officeDocument/2006/relationships/notesSlide"/><Relationship Id="rId45" Target="notesSlides/notesSlide14.xml" Type="http://schemas.openxmlformats.org/officeDocument/2006/relationships/notesSlide"/><Relationship Id="rId46" Target="notesSlides/notesSlide15.xml" Type="http://schemas.openxmlformats.org/officeDocument/2006/relationships/notesSlide"/><Relationship Id="rId47" Target="notesSlides/notesSlide16.xml" Type="http://schemas.openxmlformats.org/officeDocument/2006/relationships/notesSlide"/><Relationship Id="rId48" Target="notesSlides/notesSlide17.xml" Type="http://schemas.openxmlformats.org/officeDocument/2006/relationships/notesSlide"/><Relationship Id="rId49" Target="notesSlides/notesSlide18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19.xml" Type="http://schemas.openxmlformats.org/officeDocument/2006/relationships/notesSlide"/><Relationship Id="rId51" Target="notesSlides/notesSlide20.xml" Type="http://schemas.openxmlformats.org/officeDocument/2006/relationships/notesSlide"/><Relationship Id="rId52" Target="fonts/font52.fntdata" Type="http://schemas.openxmlformats.org/officeDocument/2006/relationships/font"/><Relationship Id="rId53" Target="notesSlides/notesSlide21.xml" Type="http://schemas.openxmlformats.org/officeDocument/2006/relationships/notesSlide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3.jpeg" Type="http://schemas.openxmlformats.org/officeDocument/2006/relationships/image"/><Relationship Id="rId4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Relationship Id="rId4" Target="../media/image4.jpeg" Type="http://schemas.openxmlformats.org/officeDocument/2006/relationships/image"/><Relationship Id="rId5" Target="../media/image5.jpeg" Type="http://schemas.openxmlformats.org/officeDocument/2006/relationships/image"/><Relationship Id="rId6" Target="../media/image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2.png" Type="http://schemas.openxmlformats.org/officeDocument/2006/relationships/image"/><Relationship Id="rId4" Target="../media/image1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Relationship Id="rId3" Target="../media/image3.jpeg" Type="http://schemas.openxmlformats.org/officeDocument/2006/relationships/image"/><Relationship Id="rId4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9689087"/>
            <a:ext cx="18313403" cy="610619"/>
            <a:chOff x="0" y="0"/>
            <a:chExt cx="24417871" cy="8141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814197"/>
            </a:xfrm>
            <a:custGeom>
              <a:avLst/>
              <a:gdLst/>
              <a:ahLst/>
              <a:cxnLst/>
              <a:rect r="r" b="b" t="t" l="l"/>
              <a:pathLst>
                <a:path h="81419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00B0F0"/>
            </a:solidFill>
            <a:ln w="25400" cap="sq">
              <a:solidFill>
                <a:srgbClr val="00B0F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365760" y="9701784"/>
            <a:ext cx="17556480" cy="585216"/>
            <a:chOff x="0" y="0"/>
            <a:chExt cx="23408640" cy="7802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408639" cy="780288"/>
            </a:xfrm>
            <a:custGeom>
              <a:avLst/>
              <a:gdLst/>
              <a:ahLst/>
              <a:cxnLst/>
              <a:rect r="r" b="b" t="t" l="l"/>
              <a:pathLst>
                <a:path h="78028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3408640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Design and Implementation of a Scalable Telecom Customer Churn Prediction and Retention Platform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365760"/>
            <a:ext cx="16459200" cy="1554480"/>
            <a:chOff x="0" y="0"/>
            <a:chExt cx="21945600" cy="2072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312" r="0" b="-15631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1945600" cy="2129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</a:t>
              </a:r>
            </a:p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PROJECT PRESENTATION</a:t>
              </a:r>
            </a:p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80160" y="1828800"/>
            <a:ext cx="15727680" cy="2377440"/>
            <a:chOff x="0" y="0"/>
            <a:chExt cx="20970240" cy="31699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970239" cy="3169920"/>
            </a:xfrm>
            <a:custGeom>
              <a:avLst/>
              <a:gdLst/>
              <a:ahLst/>
              <a:cxnLst/>
              <a:rect r="r" b="b" t="t" l="l"/>
              <a:pathLst>
                <a:path h="316992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901" r="0" b="-7890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20970240" cy="32365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Design and Implementation of a Scalable</a:t>
              </a:r>
            </a:p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Telecom Customer Churn Prediction and</a:t>
              </a:r>
            </a:p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Retention Platform using PySpark and</a:t>
              </a:r>
            </a:p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Machine Learning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" y="4297680"/>
            <a:ext cx="16459200" cy="5120640"/>
            <a:chOff x="0" y="0"/>
            <a:chExt cx="21945600" cy="6827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6827520"/>
            </a:xfrm>
            <a:custGeom>
              <a:avLst/>
              <a:gdLst/>
              <a:ahLst/>
              <a:cxnLst/>
              <a:rect r="r" b="b" t="t" l="l"/>
              <a:pathLst>
                <a:path h="6827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827520"/>
                  </a:lnTo>
                  <a:lnTo>
                    <a:pt x="0" y="6827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30" r="0" b="-1263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1945600" cy="6884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MCA SEM IV (Batch 2024–26)</a:t>
              </a:r>
            </a:p>
            <a:p>
              <a:pPr algn="ctr">
                <a:lnSpc>
                  <a:spcPts val="3120"/>
                </a:lnSpc>
              </a:pPr>
            </a:p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PRESENTED BY</a:t>
              </a:r>
            </a:p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Divyesh S. Joshi</a:t>
              </a:r>
            </a:p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Seat No.: 52419 | Roll No.: MC24097</a:t>
              </a:r>
            </a:p>
            <a:p>
              <a:pPr algn="ctr">
                <a:lnSpc>
                  <a:spcPts val="3120"/>
                </a:lnSpc>
              </a:pPr>
            </a:p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UNDER THE GUIDANCE OF</a:t>
              </a:r>
            </a:p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Yugandhara Patil</a:t>
              </a:r>
            </a:p>
            <a:p>
              <a:pPr algn="ctr">
                <a:lnSpc>
                  <a:spcPts val="3120"/>
                </a:lnSpc>
              </a:pPr>
            </a:p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YASHASWI EDUCATION SOCIETY'S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IIMS Chinchwad, Pune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Savitribai Phule Pune University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320407" y="182880"/>
            <a:ext cx="1510393" cy="1550670"/>
            <a:chOff x="0" y="0"/>
            <a:chExt cx="1828800" cy="187756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28800" cy="1877568"/>
            </a:xfrm>
            <a:custGeom>
              <a:avLst/>
              <a:gdLst/>
              <a:ahLst/>
              <a:cxnLst/>
              <a:rect r="r" b="b" t="t" l="l"/>
              <a:pathLst>
                <a:path h="187756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77568"/>
                  </a:lnTo>
                  <a:lnTo>
                    <a:pt x="0" y="1877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0629" t="-15369" r="-14905" b="-16644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9689087"/>
            <a:ext cx="18313403" cy="610619"/>
            <a:chOff x="0" y="0"/>
            <a:chExt cx="24417871" cy="8141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814197"/>
            </a:xfrm>
            <a:custGeom>
              <a:avLst/>
              <a:gdLst/>
              <a:ahLst/>
              <a:cxnLst/>
              <a:rect r="r" b="b" t="t" l="l"/>
              <a:pathLst>
                <a:path h="81419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00B0F0"/>
            </a:solidFill>
            <a:ln w="25400" cap="sq">
              <a:solidFill>
                <a:srgbClr val="00B0F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365760" y="9701784"/>
            <a:ext cx="17556480" cy="585216"/>
            <a:chOff x="0" y="0"/>
            <a:chExt cx="23408640" cy="7802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408639" cy="780288"/>
            </a:xfrm>
            <a:custGeom>
              <a:avLst/>
              <a:gdLst/>
              <a:ahLst/>
              <a:cxnLst/>
              <a:rect r="r" b="b" t="t" l="l"/>
              <a:pathLst>
                <a:path h="78028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3408640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Design and Implementation of a Scalable Telecom Customer Churn Prediction and Retention Platform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31520" y="182880"/>
            <a:ext cx="15270480" cy="1005840"/>
            <a:chOff x="0" y="0"/>
            <a:chExt cx="20360640" cy="13411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3606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0360639">
                  <a:moveTo>
                    <a:pt x="0" y="0"/>
                  </a:moveTo>
                  <a:lnTo>
                    <a:pt x="20360639" y="0"/>
                  </a:lnTo>
                  <a:lnTo>
                    <a:pt x="203606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818" r="0" b="-24581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85725"/>
              <a:ext cx="20360640" cy="1426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Content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22960" y="1379220"/>
            <a:ext cx="8046720" cy="7993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9120" indent="-28956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Introduction</a:t>
            </a:r>
          </a:p>
          <a:p>
            <a:pPr algn="l" marL="579120" indent="-28956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Company Profile</a:t>
            </a:r>
          </a:p>
          <a:p>
            <a:pPr algn="l" marL="579120" indent="-28956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Problem Statement &amp; Objectives</a:t>
            </a:r>
          </a:p>
          <a:p>
            <a:pPr algn="l" marL="579120" indent="-28956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Scope of Project</a:t>
            </a:r>
          </a:p>
          <a:p>
            <a:pPr algn="l" marL="579120" indent="-28956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Technology Used</a:t>
            </a:r>
          </a:p>
          <a:p>
            <a:pPr algn="l" marL="579120" indent="-28956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System Analysis — Functional &amp; Non-Functional Requirements</a:t>
            </a:r>
          </a:p>
          <a:p>
            <a:pPr algn="l" marL="579120" indent="-28956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UML Diagrams (Use Case, Class, Activity, Sequence, Component)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18320" y="1379220"/>
            <a:ext cx="8046720" cy="7993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9120" indent="-28956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ER Diagram &amp; Database Design</a:t>
            </a:r>
          </a:p>
          <a:p>
            <a:pPr algn="l" marL="579120" indent="-28956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Screenshots &amp; Reports</a:t>
            </a:r>
          </a:p>
          <a:p>
            <a:pPr algn="l" marL="579120" indent="-289560" lvl="1">
              <a:lnSpc>
                <a:spcPts val="2879"/>
              </a:lnSpc>
              <a:buFont typeface="Arial"/>
              <a:buChar char="•"/>
            </a:pPr>
            <a:r>
              <a:rPr lang="en-US" b="true" sz="2400">
                <a:solidFill>
                  <a:srgbClr val="C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Test Cases &amp; Results</a:t>
            </a:r>
          </a:p>
          <a:p>
            <a:pPr algn="l" marL="579120" indent="-28956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Limitations of the System</a:t>
            </a:r>
          </a:p>
          <a:p>
            <a:pPr algn="l" marL="579120" indent="-28956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Future Enhancements</a:t>
            </a:r>
          </a:p>
          <a:p>
            <a:pPr algn="l" marL="579120" indent="-28956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Conclusion</a:t>
            </a:r>
          </a:p>
          <a:p>
            <a:pPr algn="l" marL="579120" indent="-289560" lvl="1">
              <a:lnSpc>
                <a:spcPts val="2879"/>
              </a:lnSpc>
              <a:buFont typeface="Arial"/>
              <a:buChar char="•"/>
            </a:pPr>
            <a:r>
              <a:rPr lang="en-US" b="true" sz="2400">
                <a:solidFill>
                  <a:srgbClr val="C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References &amp; Annexure (Sample Code)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6459200" y="182880"/>
            <a:ext cx="1371600" cy="1408176"/>
            <a:chOff x="0" y="0"/>
            <a:chExt cx="1828800" cy="187756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28800" cy="1877568"/>
            </a:xfrm>
            <a:custGeom>
              <a:avLst/>
              <a:gdLst/>
              <a:ahLst/>
              <a:cxnLst/>
              <a:rect r="r" b="b" t="t" l="l"/>
              <a:pathLst>
                <a:path h="187756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77568"/>
                  </a:lnTo>
                  <a:lnTo>
                    <a:pt x="0" y="1877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0629" t="-15369" r="-14905" b="-16644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9689087"/>
            <a:ext cx="18313403" cy="610619"/>
            <a:chOff x="0" y="0"/>
            <a:chExt cx="24417871" cy="8141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814197"/>
            </a:xfrm>
            <a:custGeom>
              <a:avLst/>
              <a:gdLst/>
              <a:ahLst/>
              <a:cxnLst/>
              <a:rect r="r" b="b" t="t" l="l"/>
              <a:pathLst>
                <a:path h="81419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00B0F0"/>
            </a:solidFill>
            <a:ln w="25400" cap="sq">
              <a:solidFill>
                <a:srgbClr val="00B0F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365760" y="9701784"/>
            <a:ext cx="17556480" cy="585216"/>
            <a:chOff x="0" y="0"/>
            <a:chExt cx="23408640" cy="7802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408639" cy="780288"/>
            </a:xfrm>
            <a:custGeom>
              <a:avLst/>
              <a:gdLst/>
              <a:ahLst/>
              <a:cxnLst/>
              <a:rect r="r" b="b" t="t" l="l"/>
              <a:pathLst>
                <a:path h="78028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3408640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Design and Implementation of a Scalable Telecom Customer Churn Prediction and Retention Platform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31520" y="182880"/>
            <a:ext cx="15270480" cy="1005840"/>
            <a:chOff x="0" y="0"/>
            <a:chExt cx="20360640" cy="13411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3606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0360639">
                  <a:moveTo>
                    <a:pt x="0" y="0"/>
                  </a:moveTo>
                  <a:lnTo>
                    <a:pt x="20360639" y="0"/>
                  </a:lnTo>
                  <a:lnTo>
                    <a:pt x="203606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818" r="0" b="-24581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85725"/>
              <a:ext cx="20360640" cy="1426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Introduction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22960" y="1305306"/>
            <a:ext cx="10424160" cy="782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0070C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 is Customer Churn?</a:t>
            </a:r>
          </a:p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Customer churn is when subscribers discontinue a service and switch to competitors — a critical challenge for telecom companies worldwide.</a:t>
            </a:r>
          </a:p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0070C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Business Problem</a:t>
            </a:r>
          </a:p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The IBM Telco dataset reveals a 26.5% churn rate, representing significant monthly revenue loss. Manual churn identification is slow, subjective, and does not scale to enterprise data volumes.</a:t>
            </a:r>
          </a:p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0070C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Our Solution</a:t>
            </a:r>
          </a:p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An end-to-end, production-grade ETL + ML + Dashboard platform that automatically predicts churn, classifies customer risk, and generates personalised retention offers — secured by role-based authentication.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795760" y="1645920"/>
            <a:ext cx="2926080" cy="2651760"/>
            <a:chOff x="0" y="0"/>
            <a:chExt cx="3901440" cy="35356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901440" cy="3535680"/>
            </a:xfrm>
            <a:custGeom>
              <a:avLst/>
              <a:gdLst/>
              <a:ahLst/>
              <a:cxnLst/>
              <a:rect r="r" b="b" t="t" l="l"/>
              <a:pathLst>
                <a:path h="3535680" w="390144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3706368" y="0"/>
                  </a:lnTo>
                  <a:cubicBezTo>
                    <a:pt x="3814064" y="0"/>
                    <a:pt x="3901440" y="87376"/>
                    <a:pt x="3901440" y="195072"/>
                  </a:cubicBezTo>
                  <a:lnTo>
                    <a:pt x="3901440" y="3340608"/>
                  </a:lnTo>
                  <a:cubicBezTo>
                    <a:pt x="3901440" y="3448304"/>
                    <a:pt x="3814064" y="3535680"/>
                    <a:pt x="3706368" y="3535680"/>
                  </a:cubicBezTo>
                  <a:lnTo>
                    <a:pt x="195072" y="3535680"/>
                  </a:lnTo>
                  <a:cubicBezTo>
                    <a:pt x="87376" y="3535680"/>
                    <a:pt x="0" y="3448304"/>
                    <a:pt x="0" y="3340608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795760" y="1975104"/>
            <a:ext cx="2926080" cy="1280160"/>
            <a:chOff x="0" y="0"/>
            <a:chExt cx="3901440" cy="17068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901440" cy="1706880"/>
            </a:xfrm>
            <a:custGeom>
              <a:avLst/>
              <a:gdLst/>
              <a:ahLst/>
              <a:cxnLst/>
              <a:rect r="r" b="b" t="t" l="l"/>
              <a:pathLst>
                <a:path h="170688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14300"/>
              <a:ext cx="3901440" cy="1821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7,043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795760" y="3255264"/>
            <a:ext cx="2926080" cy="768096"/>
            <a:chOff x="0" y="0"/>
            <a:chExt cx="3901440" cy="102412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9014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8" r="0" b="-2422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390144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Customers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5087600" y="1645920"/>
            <a:ext cx="2926080" cy="2651760"/>
            <a:chOff x="0" y="0"/>
            <a:chExt cx="3901440" cy="35356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901440" cy="3535680"/>
            </a:xfrm>
            <a:custGeom>
              <a:avLst/>
              <a:gdLst/>
              <a:ahLst/>
              <a:cxnLst/>
              <a:rect r="r" b="b" t="t" l="l"/>
              <a:pathLst>
                <a:path h="3535680" w="390144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3706368" y="0"/>
                  </a:lnTo>
                  <a:cubicBezTo>
                    <a:pt x="3814064" y="0"/>
                    <a:pt x="3901440" y="87376"/>
                    <a:pt x="3901440" y="195072"/>
                  </a:cubicBezTo>
                  <a:lnTo>
                    <a:pt x="3901440" y="3340608"/>
                  </a:lnTo>
                  <a:cubicBezTo>
                    <a:pt x="3901440" y="3448304"/>
                    <a:pt x="3814064" y="3535680"/>
                    <a:pt x="3706368" y="3535680"/>
                  </a:cubicBezTo>
                  <a:lnTo>
                    <a:pt x="195072" y="3535680"/>
                  </a:lnTo>
                  <a:cubicBezTo>
                    <a:pt x="87376" y="3535680"/>
                    <a:pt x="0" y="3448304"/>
                    <a:pt x="0" y="3340608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5087600" y="1975104"/>
            <a:ext cx="2926080" cy="1280160"/>
            <a:chOff x="0" y="0"/>
            <a:chExt cx="3901440" cy="17068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901440" cy="1706880"/>
            </a:xfrm>
            <a:custGeom>
              <a:avLst/>
              <a:gdLst/>
              <a:ahLst/>
              <a:cxnLst/>
              <a:rect r="r" b="b" t="t" l="l"/>
              <a:pathLst>
                <a:path h="170688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14300"/>
              <a:ext cx="3901440" cy="1821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C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26.5%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5087600" y="3255264"/>
            <a:ext cx="2926080" cy="768096"/>
            <a:chOff x="0" y="0"/>
            <a:chExt cx="3901440" cy="102412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9014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8" r="0" b="-2422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390144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Churn Rate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795760" y="4754880"/>
            <a:ext cx="2926080" cy="2651760"/>
            <a:chOff x="0" y="0"/>
            <a:chExt cx="3901440" cy="35356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901440" cy="3535680"/>
            </a:xfrm>
            <a:custGeom>
              <a:avLst/>
              <a:gdLst/>
              <a:ahLst/>
              <a:cxnLst/>
              <a:rect r="r" b="b" t="t" l="l"/>
              <a:pathLst>
                <a:path h="3535680" w="390144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3706368" y="0"/>
                  </a:lnTo>
                  <a:cubicBezTo>
                    <a:pt x="3814064" y="0"/>
                    <a:pt x="3901440" y="87376"/>
                    <a:pt x="3901440" y="195072"/>
                  </a:cubicBezTo>
                  <a:lnTo>
                    <a:pt x="3901440" y="3340608"/>
                  </a:lnTo>
                  <a:cubicBezTo>
                    <a:pt x="3901440" y="3448304"/>
                    <a:pt x="3814064" y="3535680"/>
                    <a:pt x="3706368" y="3535680"/>
                  </a:cubicBezTo>
                  <a:lnTo>
                    <a:pt x="195072" y="3535680"/>
                  </a:lnTo>
                  <a:cubicBezTo>
                    <a:pt x="87376" y="3535680"/>
                    <a:pt x="0" y="3448304"/>
                    <a:pt x="0" y="3340608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795760" y="5084064"/>
            <a:ext cx="2926080" cy="1280160"/>
            <a:chOff x="0" y="0"/>
            <a:chExt cx="3901440" cy="17068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01440" cy="1706880"/>
            </a:xfrm>
            <a:custGeom>
              <a:avLst/>
              <a:gdLst/>
              <a:ahLst/>
              <a:cxnLst/>
              <a:rect r="r" b="b" t="t" l="l"/>
              <a:pathLst>
                <a:path h="170688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14300"/>
              <a:ext cx="3901440" cy="1821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1E7D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795760" y="6364224"/>
            <a:ext cx="2926080" cy="768096"/>
            <a:chOff x="0" y="0"/>
            <a:chExt cx="3901440" cy="102412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9014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8" r="0" b="-2422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390144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ML Models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5087600" y="4754880"/>
            <a:ext cx="2926080" cy="2651760"/>
            <a:chOff x="0" y="0"/>
            <a:chExt cx="3901440" cy="35356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901440" cy="3535680"/>
            </a:xfrm>
            <a:custGeom>
              <a:avLst/>
              <a:gdLst/>
              <a:ahLst/>
              <a:cxnLst/>
              <a:rect r="r" b="b" t="t" l="l"/>
              <a:pathLst>
                <a:path h="3535680" w="390144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3706368" y="0"/>
                  </a:lnTo>
                  <a:cubicBezTo>
                    <a:pt x="3814064" y="0"/>
                    <a:pt x="3901440" y="87376"/>
                    <a:pt x="3901440" y="195072"/>
                  </a:cubicBezTo>
                  <a:lnTo>
                    <a:pt x="3901440" y="3340608"/>
                  </a:lnTo>
                  <a:cubicBezTo>
                    <a:pt x="3901440" y="3448304"/>
                    <a:pt x="3814064" y="3535680"/>
                    <a:pt x="3706368" y="3535680"/>
                  </a:cubicBezTo>
                  <a:lnTo>
                    <a:pt x="195072" y="3535680"/>
                  </a:lnTo>
                  <a:cubicBezTo>
                    <a:pt x="87376" y="3535680"/>
                    <a:pt x="0" y="3448304"/>
                    <a:pt x="0" y="3340608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5087600" y="5084064"/>
            <a:ext cx="2926080" cy="1280160"/>
            <a:chOff x="0" y="0"/>
            <a:chExt cx="3901440" cy="17068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901440" cy="1706880"/>
            </a:xfrm>
            <a:custGeom>
              <a:avLst/>
              <a:gdLst/>
              <a:ahLst/>
              <a:cxnLst/>
              <a:rect r="r" b="b" t="t" l="l"/>
              <a:pathLst>
                <a:path h="170688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14300"/>
              <a:ext cx="3901440" cy="1821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7B2D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48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5087600" y="6364224"/>
            <a:ext cx="2926080" cy="768096"/>
            <a:chOff x="0" y="0"/>
            <a:chExt cx="3901440" cy="102412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9014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8" r="0" b="-24228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390144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Unit Tests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6459200" y="182880"/>
            <a:ext cx="1371600" cy="1408176"/>
            <a:chOff x="0" y="0"/>
            <a:chExt cx="1828800" cy="187756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828800" cy="1877568"/>
            </a:xfrm>
            <a:custGeom>
              <a:avLst/>
              <a:gdLst/>
              <a:ahLst/>
              <a:cxnLst/>
              <a:rect r="r" b="b" t="t" l="l"/>
              <a:pathLst>
                <a:path h="187756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77568"/>
                  </a:lnTo>
                  <a:lnTo>
                    <a:pt x="0" y="1877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0629" t="-15369" r="-14905" b="-16644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9689087"/>
            <a:ext cx="18313403" cy="610619"/>
            <a:chOff x="0" y="0"/>
            <a:chExt cx="24417871" cy="8141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814197"/>
            </a:xfrm>
            <a:custGeom>
              <a:avLst/>
              <a:gdLst/>
              <a:ahLst/>
              <a:cxnLst/>
              <a:rect r="r" b="b" t="t" l="l"/>
              <a:pathLst>
                <a:path h="81419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00B0F0"/>
            </a:solidFill>
            <a:ln w="25400" cap="sq">
              <a:solidFill>
                <a:srgbClr val="00B0F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365760" y="9701784"/>
            <a:ext cx="17556480" cy="585216"/>
            <a:chOff x="0" y="0"/>
            <a:chExt cx="23408640" cy="7802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408639" cy="780288"/>
            </a:xfrm>
            <a:custGeom>
              <a:avLst/>
              <a:gdLst/>
              <a:ahLst/>
              <a:cxnLst/>
              <a:rect r="r" b="b" t="t" l="l"/>
              <a:pathLst>
                <a:path h="78028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3408640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Design and Implementation of a Scalable Telecom Customer Churn Prediction and Retention Platform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31520" y="182880"/>
            <a:ext cx="15270480" cy="1005840"/>
            <a:chOff x="0" y="0"/>
            <a:chExt cx="20360640" cy="13411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3606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0360639">
                  <a:moveTo>
                    <a:pt x="0" y="0"/>
                  </a:moveTo>
                  <a:lnTo>
                    <a:pt x="20360639" y="0"/>
                  </a:lnTo>
                  <a:lnTo>
                    <a:pt x="203606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818" r="0" b="-24581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85725"/>
              <a:ext cx="20360640" cy="1426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Company Profile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22960" y="1350645"/>
            <a:ext cx="16642080" cy="8021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0070C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D-Table Analytics</a:t>
            </a:r>
          </a:p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D-Table Analytics is a technology and analytics company providing solutions in data analytics, business intelligence, software development, and process automation.</a:t>
            </a:r>
          </a:p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1A1A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Core Focus Areas:</a:t>
            </a:r>
          </a:p>
          <a:p>
            <a:pPr algn="l" marL="627380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Transforming raw data into meaningful insights for better decision-making</a:t>
            </a:r>
          </a:p>
          <a:p>
            <a:pPr algn="l" marL="627380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Customised web applications, reporting systems, dashboards, and automation tools</a:t>
            </a:r>
          </a:p>
          <a:p>
            <a:pPr algn="l" marL="627380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Practical and scalable technology solutions using AI and cloud-based systems</a:t>
            </a:r>
          </a:p>
          <a:p>
            <a:pPr algn="l" marL="627380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Workflow management, data handling, and digital transformation processes</a:t>
            </a:r>
          </a:p>
          <a:p>
            <a:pPr algn="l" marL="627380" indent="-313690" lvl="1">
              <a:lnSpc>
                <a:spcPts val="3120"/>
              </a:lnSpc>
            </a:pPr>
            <a:r>
              <a:rPr lang="en-US" sz="260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algn="l" marL="627380" indent="-313690" lvl="1">
              <a:lnSpc>
                <a:spcPts val="3120"/>
              </a:lnSpc>
            </a:pPr>
            <a:r>
              <a:rPr lang="en-US" sz="2600" i="true">
                <a:solidFill>
                  <a:srgbClr val="555555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This project was developed as part of the On-Job Training (OJT) requirement for MCA Sem IV at IIMS Chinchwad, Pune under D-Table Analytics.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6459200" y="182880"/>
            <a:ext cx="1371600" cy="1408176"/>
            <a:chOff x="0" y="0"/>
            <a:chExt cx="1828800" cy="18775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28800" cy="1877568"/>
            </a:xfrm>
            <a:custGeom>
              <a:avLst/>
              <a:gdLst/>
              <a:ahLst/>
              <a:cxnLst/>
              <a:rect r="r" b="b" t="t" l="l"/>
              <a:pathLst>
                <a:path h="187756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77568"/>
                  </a:lnTo>
                  <a:lnTo>
                    <a:pt x="0" y="1877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0629" t="-15369" r="-14905" b="-16644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9689087"/>
            <a:ext cx="18313403" cy="610619"/>
            <a:chOff x="0" y="0"/>
            <a:chExt cx="24417871" cy="8141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814197"/>
            </a:xfrm>
            <a:custGeom>
              <a:avLst/>
              <a:gdLst/>
              <a:ahLst/>
              <a:cxnLst/>
              <a:rect r="r" b="b" t="t" l="l"/>
              <a:pathLst>
                <a:path h="81419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00B0F0"/>
            </a:solidFill>
            <a:ln w="25400" cap="sq">
              <a:solidFill>
                <a:srgbClr val="00B0F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365760" y="9701784"/>
            <a:ext cx="17556480" cy="585216"/>
            <a:chOff x="0" y="0"/>
            <a:chExt cx="23408640" cy="7802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408639" cy="780288"/>
            </a:xfrm>
            <a:custGeom>
              <a:avLst/>
              <a:gdLst/>
              <a:ahLst/>
              <a:cxnLst/>
              <a:rect r="r" b="b" t="t" l="l"/>
              <a:pathLst>
                <a:path h="78028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3408640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Design and Implementation of a Scalable Telecom Customer Churn Prediction and Retention Platform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31520" y="182880"/>
            <a:ext cx="15270480" cy="1005840"/>
            <a:chOff x="0" y="0"/>
            <a:chExt cx="20360640" cy="13411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3606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0360639">
                  <a:moveTo>
                    <a:pt x="0" y="0"/>
                  </a:moveTo>
                  <a:lnTo>
                    <a:pt x="20360639" y="0"/>
                  </a:lnTo>
                  <a:lnTo>
                    <a:pt x="203606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818" r="0" b="-24581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85725"/>
              <a:ext cx="20360640" cy="1426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Objectives of the Proposed System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48640" y="1371600"/>
            <a:ext cx="5669280" cy="2377440"/>
            <a:chOff x="0" y="0"/>
            <a:chExt cx="7559040" cy="31699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559040" cy="3169920"/>
            </a:xfrm>
            <a:custGeom>
              <a:avLst/>
              <a:gdLst/>
              <a:ahLst/>
              <a:cxnLst/>
              <a:rect r="r" b="b" t="t" l="l"/>
              <a:pathLst>
                <a:path h="3169920" w="7559040">
                  <a:moveTo>
                    <a:pt x="0" y="170688"/>
                  </a:moveTo>
                  <a:cubicBezTo>
                    <a:pt x="0" y="76454"/>
                    <a:pt x="76454" y="0"/>
                    <a:pt x="170688" y="0"/>
                  </a:cubicBezTo>
                  <a:lnTo>
                    <a:pt x="7388352" y="0"/>
                  </a:lnTo>
                  <a:cubicBezTo>
                    <a:pt x="7482586" y="0"/>
                    <a:pt x="7559040" y="76454"/>
                    <a:pt x="7559040" y="170688"/>
                  </a:cubicBezTo>
                  <a:lnTo>
                    <a:pt x="7559040" y="2999232"/>
                  </a:lnTo>
                  <a:cubicBezTo>
                    <a:pt x="7559040" y="3093466"/>
                    <a:pt x="7482586" y="3169920"/>
                    <a:pt x="7388352" y="3169920"/>
                  </a:cubicBezTo>
                  <a:lnTo>
                    <a:pt x="170688" y="3169920"/>
                  </a:lnTo>
                  <a:cubicBezTo>
                    <a:pt x="76454" y="3169920"/>
                    <a:pt x="0" y="3093466"/>
                    <a:pt x="0" y="2999232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31520" y="1371600"/>
            <a:ext cx="5303520" cy="2377440"/>
            <a:chOff x="0" y="0"/>
            <a:chExt cx="7071360" cy="3169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071360" cy="3169920"/>
            </a:xfrm>
            <a:custGeom>
              <a:avLst/>
              <a:gdLst/>
              <a:ahLst/>
              <a:cxnLst/>
              <a:rect r="r" b="b" t="t" l="l"/>
              <a:pathLst>
                <a:path h="316992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515" t="0" r="-7515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7071360" cy="3208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1. Design and implement a complete ETL pipeline using Python, Pandas, and PySpark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492240" y="1371600"/>
            <a:ext cx="5669280" cy="2377440"/>
            <a:chOff x="0" y="0"/>
            <a:chExt cx="7559040" cy="3169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559040" cy="3169920"/>
            </a:xfrm>
            <a:custGeom>
              <a:avLst/>
              <a:gdLst/>
              <a:ahLst/>
              <a:cxnLst/>
              <a:rect r="r" b="b" t="t" l="l"/>
              <a:pathLst>
                <a:path h="3169920" w="7559040">
                  <a:moveTo>
                    <a:pt x="0" y="170688"/>
                  </a:moveTo>
                  <a:cubicBezTo>
                    <a:pt x="0" y="76454"/>
                    <a:pt x="76454" y="0"/>
                    <a:pt x="170688" y="0"/>
                  </a:cubicBezTo>
                  <a:lnTo>
                    <a:pt x="7388352" y="0"/>
                  </a:lnTo>
                  <a:cubicBezTo>
                    <a:pt x="7482586" y="0"/>
                    <a:pt x="7559040" y="76454"/>
                    <a:pt x="7559040" y="170688"/>
                  </a:cubicBezTo>
                  <a:lnTo>
                    <a:pt x="7559040" y="2999232"/>
                  </a:lnTo>
                  <a:cubicBezTo>
                    <a:pt x="7559040" y="3093466"/>
                    <a:pt x="7482586" y="3169920"/>
                    <a:pt x="7388352" y="3169920"/>
                  </a:cubicBezTo>
                  <a:lnTo>
                    <a:pt x="170688" y="3169920"/>
                  </a:lnTo>
                  <a:cubicBezTo>
                    <a:pt x="76454" y="3169920"/>
                    <a:pt x="0" y="3093466"/>
                    <a:pt x="0" y="2999232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675120" y="1371600"/>
            <a:ext cx="5303520" cy="2377440"/>
            <a:chOff x="0" y="0"/>
            <a:chExt cx="7071360" cy="31699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071360" cy="3169920"/>
            </a:xfrm>
            <a:custGeom>
              <a:avLst/>
              <a:gdLst/>
              <a:ahLst/>
              <a:cxnLst/>
              <a:rect r="r" b="b" t="t" l="l"/>
              <a:pathLst>
                <a:path h="316992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515" t="0" r="-7515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7071360" cy="3208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2. Clean, transform, and engineer features from the IBM Telco Customer Churn dataset (7,043 records)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435840" y="1371600"/>
            <a:ext cx="5669280" cy="2377440"/>
            <a:chOff x="0" y="0"/>
            <a:chExt cx="7559040" cy="31699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559040" cy="3169920"/>
            </a:xfrm>
            <a:custGeom>
              <a:avLst/>
              <a:gdLst/>
              <a:ahLst/>
              <a:cxnLst/>
              <a:rect r="r" b="b" t="t" l="l"/>
              <a:pathLst>
                <a:path h="3169920" w="7559040">
                  <a:moveTo>
                    <a:pt x="0" y="170688"/>
                  </a:moveTo>
                  <a:cubicBezTo>
                    <a:pt x="0" y="76454"/>
                    <a:pt x="76454" y="0"/>
                    <a:pt x="170688" y="0"/>
                  </a:cubicBezTo>
                  <a:lnTo>
                    <a:pt x="7388352" y="0"/>
                  </a:lnTo>
                  <a:cubicBezTo>
                    <a:pt x="7482586" y="0"/>
                    <a:pt x="7559040" y="76454"/>
                    <a:pt x="7559040" y="170688"/>
                  </a:cubicBezTo>
                  <a:lnTo>
                    <a:pt x="7559040" y="2999232"/>
                  </a:lnTo>
                  <a:cubicBezTo>
                    <a:pt x="7559040" y="3093466"/>
                    <a:pt x="7482586" y="3169920"/>
                    <a:pt x="7388352" y="3169920"/>
                  </a:cubicBezTo>
                  <a:lnTo>
                    <a:pt x="170688" y="3169920"/>
                  </a:lnTo>
                  <a:cubicBezTo>
                    <a:pt x="76454" y="3169920"/>
                    <a:pt x="0" y="3093466"/>
                    <a:pt x="0" y="2999232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618720" y="1371600"/>
            <a:ext cx="5303520" cy="2377440"/>
            <a:chOff x="0" y="0"/>
            <a:chExt cx="7071360" cy="31699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071360" cy="3169920"/>
            </a:xfrm>
            <a:custGeom>
              <a:avLst/>
              <a:gdLst/>
              <a:ahLst/>
              <a:cxnLst/>
              <a:rect r="r" b="b" t="t" l="l"/>
              <a:pathLst>
                <a:path h="316992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515" t="0" r="-7515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7071360" cy="3208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3. Train and evaluate 3 ML models (Random Forest, Gradient Boosting, Logistic Regression); auto-select best by ROC-AUC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48640" y="4023360"/>
            <a:ext cx="5669280" cy="2377440"/>
            <a:chOff x="0" y="0"/>
            <a:chExt cx="7559040" cy="31699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559040" cy="3169920"/>
            </a:xfrm>
            <a:custGeom>
              <a:avLst/>
              <a:gdLst/>
              <a:ahLst/>
              <a:cxnLst/>
              <a:rect r="r" b="b" t="t" l="l"/>
              <a:pathLst>
                <a:path h="3169920" w="7559040">
                  <a:moveTo>
                    <a:pt x="0" y="170688"/>
                  </a:moveTo>
                  <a:cubicBezTo>
                    <a:pt x="0" y="76454"/>
                    <a:pt x="76454" y="0"/>
                    <a:pt x="170688" y="0"/>
                  </a:cubicBezTo>
                  <a:lnTo>
                    <a:pt x="7388352" y="0"/>
                  </a:lnTo>
                  <a:cubicBezTo>
                    <a:pt x="7482586" y="0"/>
                    <a:pt x="7559040" y="76454"/>
                    <a:pt x="7559040" y="170688"/>
                  </a:cubicBezTo>
                  <a:lnTo>
                    <a:pt x="7559040" y="2999232"/>
                  </a:lnTo>
                  <a:cubicBezTo>
                    <a:pt x="7559040" y="3093466"/>
                    <a:pt x="7482586" y="3169920"/>
                    <a:pt x="7388352" y="3169920"/>
                  </a:cubicBezTo>
                  <a:lnTo>
                    <a:pt x="170688" y="3169920"/>
                  </a:lnTo>
                  <a:cubicBezTo>
                    <a:pt x="76454" y="3169920"/>
                    <a:pt x="0" y="3093466"/>
                    <a:pt x="0" y="2999232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31520" y="4023360"/>
            <a:ext cx="5303520" cy="2377440"/>
            <a:chOff x="0" y="0"/>
            <a:chExt cx="7071360" cy="31699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071360" cy="3169920"/>
            </a:xfrm>
            <a:custGeom>
              <a:avLst/>
              <a:gdLst/>
              <a:ahLst/>
              <a:cxnLst/>
              <a:rect r="r" b="b" t="t" l="l"/>
              <a:pathLst>
                <a:path h="316992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515" t="0" r="-7515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7071360" cy="3208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4. Score all customers with ChurnProbability and ChurnRisk (High / Medium / Low) classification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492240" y="4023360"/>
            <a:ext cx="5669280" cy="2377440"/>
            <a:chOff x="0" y="0"/>
            <a:chExt cx="7559040" cy="31699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559040" cy="3169920"/>
            </a:xfrm>
            <a:custGeom>
              <a:avLst/>
              <a:gdLst/>
              <a:ahLst/>
              <a:cxnLst/>
              <a:rect r="r" b="b" t="t" l="l"/>
              <a:pathLst>
                <a:path h="3169920" w="7559040">
                  <a:moveTo>
                    <a:pt x="0" y="170688"/>
                  </a:moveTo>
                  <a:cubicBezTo>
                    <a:pt x="0" y="76454"/>
                    <a:pt x="76454" y="0"/>
                    <a:pt x="170688" y="0"/>
                  </a:cubicBezTo>
                  <a:lnTo>
                    <a:pt x="7388352" y="0"/>
                  </a:lnTo>
                  <a:cubicBezTo>
                    <a:pt x="7482586" y="0"/>
                    <a:pt x="7559040" y="76454"/>
                    <a:pt x="7559040" y="170688"/>
                  </a:cubicBezTo>
                  <a:lnTo>
                    <a:pt x="7559040" y="2999232"/>
                  </a:lnTo>
                  <a:cubicBezTo>
                    <a:pt x="7559040" y="3093466"/>
                    <a:pt x="7482586" y="3169920"/>
                    <a:pt x="7388352" y="3169920"/>
                  </a:cubicBezTo>
                  <a:lnTo>
                    <a:pt x="170688" y="3169920"/>
                  </a:lnTo>
                  <a:cubicBezTo>
                    <a:pt x="76454" y="3169920"/>
                    <a:pt x="0" y="3093466"/>
                    <a:pt x="0" y="2999232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675120" y="4023360"/>
            <a:ext cx="5303520" cy="2377440"/>
            <a:chOff x="0" y="0"/>
            <a:chExt cx="7071360" cy="31699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071360" cy="3169920"/>
            </a:xfrm>
            <a:custGeom>
              <a:avLst/>
              <a:gdLst/>
              <a:ahLst/>
              <a:cxnLst/>
              <a:rect r="r" b="b" t="t" l="l"/>
              <a:pathLst>
                <a:path h="316992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515" t="0" r="-7515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7071360" cy="3208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5. Generate personalised retention offers using a 7-strategy recommendation engine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435840" y="4023360"/>
            <a:ext cx="5669280" cy="2377440"/>
            <a:chOff x="0" y="0"/>
            <a:chExt cx="7559040" cy="31699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559040" cy="3169920"/>
            </a:xfrm>
            <a:custGeom>
              <a:avLst/>
              <a:gdLst/>
              <a:ahLst/>
              <a:cxnLst/>
              <a:rect r="r" b="b" t="t" l="l"/>
              <a:pathLst>
                <a:path h="3169920" w="7559040">
                  <a:moveTo>
                    <a:pt x="0" y="170688"/>
                  </a:moveTo>
                  <a:cubicBezTo>
                    <a:pt x="0" y="76454"/>
                    <a:pt x="76454" y="0"/>
                    <a:pt x="170688" y="0"/>
                  </a:cubicBezTo>
                  <a:lnTo>
                    <a:pt x="7388352" y="0"/>
                  </a:lnTo>
                  <a:cubicBezTo>
                    <a:pt x="7482586" y="0"/>
                    <a:pt x="7559040" y="76454"/>
                    <a:pt x="7559040" y="170688"/>
                  </a:cubicBezTo>
                  <a:lnTo>
                    <a:pt x="7559040" y="2999232"/>
                  </a:lnTo>
                  <a:cubicBezTo>
                    <a:pt x="7559040" y="3093466"/>
                    <a:pt x="7482586" y="3169920"/>
                    <a:pt x="7388352" y="3169920"/>
                  </a:cubicBezTo>
                  <a:lnTo>
                    <a:pt x="170688" y="3169920"/>
                  </a:lnTo>
                  <a:cubicBezTo>
                    <a:pt x="76454" y="3169920"/>
                    <a:pt x="0" y="3093466"/>
                    <a:pt x="0" y="2999232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2618720" y="4023360"/>
            <a:ext cx="5303520" cy="2377440"/>
            <a:chOff x="0" y="0"/>
            <a:chExt cx="7071360" cy="31699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071360" cy="3169920"/>
            </a:xfrm>
            <a:custGeom>
              <a:avLst/>
              <a:gdLst/>
              <a:ahLst/>
              <a:cxnLst/>
              <a:rect r="r" b="b" t="t" l="l"/>
              <a:pathLst>
                <a:path h="316992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515" t="0" r="-7515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7071360" cy="3208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6. Develop a secure, role-based Streamlit analytics dashboard with 5 interactive pages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548640" y="6675120"/>
            <a:ext cx="5669280" cy="2377440"/>
            <a:chOff x="0" y="0"/>
            <a:chExt cx="7559040" cy="31699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559040" cy="3169920"/>
            </a:xfrm>
            <a:custGeom>
              <a:avLst/>
              <a:gdLst/>
              <a:ahLst/>
              <a:cxnLst/>
              <a:rect r="r" b="b" t="t" l="l"/>
              <a:pathLst>
                <a:path h="3169920" w="7559040">
                  <a:moveTo>
                    <a:pt x="0" y="170688"/>
                  </a:moveTo>
                  <a:cubicBezTo>
                    <a:pt x="0" y="76454"/>
                    <a:pt x="76454" y="0"/>
                    <a:pt x="170688" y="0"/>
                  </a:cubicBezTo>
                  <a:lnTo>
                    <a:pt x="7388352" y="0"/>
                  </a:lnTo>
                  <a:cubicBezTo>
                    <a:pt x="7482586" y="0"/>
                    <a:pt x="7559040" y="76454"/>
                    <a:pt x="7559040" y="170688"/>
                  </a:cubicBezTo>
                  <a:lnTo>
                    <a:pt x="7559040" y="2999232"/>
                  </a:lnTo>
                  <a:cubicBezTo>
                    <a:pt x="7559040" y="3093466"/>
                    <a:pt x="7482586" y="3169920"/>
                    <a:pt x="7388352" y="3169920"/>
                  </a:cubicBezTo>
                  <a:lnTo>
                    <a:pt x="170688" y="3169920"/>
                  </a:lnTo>
                  <a:cubicBezTo>
                    <a:pt x="76454" y="3169920"/>
                    <a:pt x="0" y="3093466"/>
                    <a:pt x="0" y="2999232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731520" y="6675120"/>
            <a:ext cx="5303520" cy="2377440"/>
            <a:chOff x="0" y="0"/>
            <a:chExt cx="7071360" cy="31699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071360" cy="3169920"/>
            </a:xfrm>
            <a:custGeom>
              <a:avLst/>
              <a:gdLst/>
              <a:ahLst/>
              <a:cxnLst/>
              <a:rect r="r" b="b" t="t" l="l"/>
              <a:pathLst>
                <a:path h="316992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515" t="0" r="-7515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7071360" cy="3208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7. Implement enterprise-grade PBKDF2-SHA256 authentication with session management and audit logging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6492240" y="6675120"/>
            <a:ext cx="5669280" cy="2377440"/>
            <a:chOff x="0" y="0"/>
            <a:chExt cx="7559040" cy="31699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559040" cy="3169920"/>
            </a:xfrm>
            <a:custGeom>
              <a:avLst/>
              <a:gdLst/>
              <a:ahLst/>
              <a:cxnLst/>
              <a:rect r="r" b="b" t="t" l="l"/>
              <a:pathLst>
                <a:path h="3169920" w="7559040">
                  <a:moveTo>
                    <a:pt x="0" y="170688"/>
                  </a:moveTo>
                  <a:cubicBezTo>
                    <a:pt x="0" y="76454"/>
                    <a:pt x="76454" y="0"/>
                    <a:pt x="170688" y="0"/>
                  </a:cubicBezTo>
                  <a:lnTo>
                    <a:pt x="7388352" y="0"/>
                  </a:lnTo>
                  <a:cubicBezTo>
                    <a:pt x="7482586" y="0"/>
                    <a:pt x="7559040" y="76454"/>
                    <a:pt x="7559040" y="170688"/>
                  </a:cubicBezTo>
                  <a:lnTo>
                    <a:pt x="7559040" y="2999232"/>
                  </a:lnTo>
                  <a:cubicBezTo>
                    <a:pt x="7559040" y="3093466"/>
                    <a:pt x="7482586" y="3169920"/>
                    <a:pt x="7388352" y="3169920"/>
                  </a:cubicBezTo>
                  <a:lnTo>
                    <a:pt x="170688" y="3169920"/>
                  </a:lnTo>
                  <a:cubicBezTo>
                    <a:pt x="76454" y="3169920"/>
                    <a:pt x="0" y="3093466"/>
                    <a:pt x="0" y="2999232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6675120" y="6675120"/>
            <a:ext cx="5303520" cy="2377440"/>
            <a:chOff x="0" y="0"/>
            <a:chExt cx="7071360" cy="31699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071360" cy="3169920"/>
            </a:xfrm>
            <a:custGeom>
              <a:avLst/>
              <a:gdLst/>
              <a:ahLst/>
              <a:cxnLst/>
              <a:rect r="r" b="b" t="t" l="l"/>
              <a:pathLst>
                <a:path h="316992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515" t="0" r="-7515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7071360" cy="3208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8. Demonstrate scalable distributed data processing using Apache PySpark 3.5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435840" y="6675120"/>
            <a:ext cx="5669280" cy="2377440"/>
            <a:chOff x="0" y="0"/>
            <a:chExt cx="7559040" cy="31699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559040" cy="3169920"/>
            </a:xfrm>
            <a:custGeom>
              <a:avLst/>
              <a:gdLst/>
              <a:ahLst/>
              <a:cxnLst/>
              <a:rect r="r" b="b" t="t" l="l"/>
              <a:pathLst>
                <a:path h="3169920" w="7559040">
                  <a:moveTo>
                    <a:pt x="0" y="170688"/>
                  </a:moveTo>
                  <a:cubicBezTo>
                    <a:pt x="0" y="76454"/>
                    <a:pt x="76454" y="0"/>
                    <a:pt x="170688" y="0"/>
                  </a:cubicBezTo>
                  <a:lnTo>
                    <a:pt x="7388352" y="0"/>
                  </a:lnTo>
                  <a:cubicBezTo>
                    <a:pt x="7482586" y="0"/>
                    <a:pt x="7559040" y="76454"/>
                    <a:pt x="7559040" y="170688"/>
                  </a:cubicBezTo>
                  <a:lnTo>
                    <a:pt x="7559040" y="2999232"/>
                  </a:lnTo>
                  <a:cubicBezTo>
                    <a:pt x="7559040" y="3093466"/>
                    <a:pt x="7482586" y="3169920"/>
                    <a:pt x="7388352" y="3169920"/>
                  </a:cubicBezTo>
                  <a:lnTo>
                    <a:pt x="170688" y="3169920"/>
                  </a:lnTo>
                  <a:cubicBezTo>
                    <a:pt x="76454" y="3169920"/>
                    <a:pt x="0" y="3093466"/>
                    <a:pt x="0" y="2999232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2618720" y="6675120"/>
            <a:ext cx="5303520" cy="2377440"/>
            <a:chOff x="0" y="0"/>
            <a:chExt cx="7071360" cy="31699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071360" cy="3169920"/>
            </a:xfrm>
            <a:custGeom>
              <a:avLst/>
              <a:gdLst/>
              <a:ahLst/>
              <a:cxnLst/>
              <a:rect r="r" b="b" t="t" l="l"/>
              <a:pathLst>
                <a:path h="316992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515" t="0" r="-7515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7071360" cy="3208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9. Achieve 100% unit test pass rate across all ETL, ML, and auth modules (48 tests)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6459200" y="182880"/>
            <a:ext cx="1371600" cy="1408176"/>
            <a:chOff x="0" y="0"/>
            <a:chExt cx="1828800" cy="187756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828800" cy="1877568"/>
            </a:xfrm>
            <a:custGeom>
              <a:avLst/>
              <a:gdLst/>
              <a:ahLst/>
              <a:cxnLst/>
              <a:rect r="r" b="b" t="t" l="l"/>
              <a:pathLst>
                <a:path h="187756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77568"/>
                  </a:lnTo>
                  <a:lnTo>
                    <a:pt x="0" y="1877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0629" t="-15369" r="-14905" b="-16644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9689087"/>
            <a:ext cx="18313403" cy="610619"/>
            <a:chOff x="0" y="0"/>
            <a:chExt cx="24417871" cy="8141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814197"/>
            </a:xfrm>
            <a:custGeom>
              <a:avLst/>
              <a:gdLst/>
              <a:ahLst/>
              <a:cxnLst/>
              <a:rect r="r" b="b" t="t" l="l"/>
              <a:pathLst>
                <a:path h="81419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00B0F0"/>
            </a:solidFill>
            <a:ln w="25400" cap="sq">
              <a:solidFill>
                <a:srgbClr val="00B0F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365760" y="9701784"/>
            <a:ext cx="17556480" cy="585216"/>
            <a:chOff x="0" y="0"/>
            <a:chExt cx="23408640" cy="7802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408639" cy="780288"/>
            </a:xfrm>
            <a:custGeom>
              <a:avLst/>
              <a:gdLst/>
              <a:ahLst/>
              <a:cxnLst/>
              <a:rect r="r" b="b" t="t" l="l"/>
              <a:pathLst>
                <a:path h="78028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3408640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Design and Implementation of a Scalable Telecom Customer Churn Prediction and Retention Platform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31520" y="182880"/>
            <a:ext cx="15270480" cy="1005840"/>
            <a:chOff x="0" y="0"/>
            <a:chExt cx="20360640" cy="13411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3606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0360639">
                  <a:moveTo>
                    <a:pt x="0" y="0"/>
                  </a:moveTo>
                  <a:lnTo>
                    <a:pt x="20360639" y="0"/>
                  </a:lnTo>
                  <a:lnTo>
                    <a:pt x="203606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818" r="0" b="-24581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85725"/>
              <a:ext cx="20360640" cy="1426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Scope of the Proposed System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48640" y="1371600"/>
            <a:ext cx="17190720" cy="969264"/>
            <a:chOff x="0" y="0"/>
            <a:chExt cx="22920960" cy="129235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920959" cy="1292352"/>
            </a:xfrm>
            <a:custGeom>
              <a:avLst/>
              <a:gdLst/>
              <a:ahLst/>
              <a:cxnLst/>
              <a:rect r="r" b="b" t="t" l="l"/>
              <a:pathLst>
                <a:path h="1292352" w="22920959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22799039" y="0"/>
                  </a:lnTo>
                  <a:cubicBezTo>
                    <a:pt x="22866350" y="0"/>
                    <a:pt x="22920959" y="54610"/>
                    <a:pt x="22920959" y="121920"/>
                  </a:cubicBezTo>
                  <a:lnTo>
                    <a:pt x="22920959" y="1170432"/>
                  </a:lnTo>
                  <a:cubicBezTo>
                    <a:pt x="22920959" y="1237742"/>
                    <a:pt x="22866350" y="1292352"/>
                    <a:pt x="22799039" y="1292352"/>
                  </a:cubicBezTo>
                  <a:lnTo>
                    <a:pt x="121920" y="1292352"/>
                  </a:lnTo>
                  <a:cubicBezTo>
                    <a:pt x="54610" y="1292352"/>
                    <a:pt x="0" y="1237742"/>
                    <a:pt x="0" y="1170432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22960" y="1371600"/>
            <a:ext cx="16642080" cy="969264"/>
            <a:chOff x="0" y="0"/>
            <a:chExt cx="22189440" cy="129235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189439" cy="1292352"/>
            </a:xfrm>
            <a:custGeom>
              <a:avLst/>
              <a:gdLst/>
              <a:ahLst/>
              <a:cxnLst/>
              <a:rect r="r" b="b" t="t" l="l"/>
              <a:pathLst>
                <a:path h="129235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292352"/>
                  </a:lnTo>
                  <a:lnTo>
                    <a:pt x="0" y="12923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554" r="0" b="-28455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22189440" cy="13399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ETL Pipeline: </a:t>
              </a:r>
              <a:r>
                <a:rPr lang="en-US" sz="22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CSV extraction → data cleaning → feature engineering → PostgreSQL loading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48640" y="2450592"/>
            <a:ext cx="17190720" cy="969264"/>
            <a:chOff x="0" y="0"/>
            <a:chExt cx="22920960" cy="129235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920959" cy="1292352"/>
            </a:xfrm>
            <a:custGeom>
              <a:avLst/>
              <a:gdLst/>
              <a:ahLst/>
              <a:cxnLst/>
              <a:rect r="r" b="b" t="t" l="l"/>
              <a:pathLst>
                <a:path h="1292352" w="22920959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22799039" y="0"/>
                  </a:lnTo>
                  <a:cubicBezTo>
                    <a:pt x="22866350" y="0"/>
                    <a:pt x="22920959" y="54610"/>
                    <a:pt x="22920959" y="121920"/>
                  </a:cubicBezTo>
                  <a:lnTo>
                    <a:pt x="22920959" y="1170432"/>
                  </a:lnTo>
                  <a:cubicBezTo>
                    <a:pt x="22920959" y="1237742"/>
                    <a:pt x="22866350" y="1292352"/>
                    <a:pt x="22799039" y="1292352"/>
                  </a:cubicBezTo>
                  <a:lnTo>
                    <a:pt x="121920" y="1292352"/>
                  </a:lnTo>
                  <a:cubicBezTo>
                    <a:pt x="54610" y="1292352"/>
                    <a:pt x="0" y="1237742"/>
                    <a:pt x="0" y="117043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22960" y="2450592"/>
            <a:ext cx="16642080" cy="969264"/>
            <a:chOff x="0" y="0"/>
            <a:chExt cx="22189440" cy="12923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189439" cy="1292352"/>
            </a:xfrm>
            <a:custGeom>
              <a:avLst/>
              <a:gdLst/>
              <a:ahLst/>
              <a:cxnLst/>
              <a:rect r="r" b="b" t="t" l="l"/>
              <a:pathLst>
                <a:path h="129235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292352"/>
                  </a:lnTo>
                  <a:lnTo>
                    <a:pt x="0" y="12923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554" r="0" b="-28455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22189440" cy="13399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Machine Learning: </a:t>
              </a:r>
              <a:r>
                <a:rPr lang="en-US" sz="22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 classification models trained; best model auto-selected by ROC-AUC score; batch customer scoring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48640" y="3529584"/>
            <a:ext cx="17190720" cy="969264"/>
            <a:chOff x="0" y="0"/>
            <a:chExt cx="22920960" cy="12923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920959" cy="1292352"/>
            </a:xfrm>
            <a:custGeom>
              <a:avLst/>
              <a:gdLst/>
              <a:ahLst/>
              <a:cxnLst/>
              <a:rect r="r" b="b" t="t" l="l"/>
              <a:pathLst>
                <a:path h="1292352" w="22920959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22799039" y="0"/>
                  </a:lnTo>
                  <a:cubicBezTo>
                    <a:pt x="22866350" y="0"/>
                    <a:pt x="22920959" y="54610"/>
                    <a:pt x="22920959" y="121920"/>
                  </a:cubicBezTo>
                  <a:lnTo>
                    <a:pt x="22920959" y="1170432"/>
                  </a:lnTo>
                  <a:cubicBezTo>
                    <a:pt x="22920959" y="1237742"/>
                    <a:pt x="22866350" y="1292352"/>
                    <a:pt x="22799039" y="1292352"/>
                  </a:cubicBezTo>
                  <a:lnTo>
                    <a:pt x="121920" y="1292352"/>
                  </a:lnTo>
                  <a:cubicBezTo>
                    <a:pt x="54610" y="1292352"/>
                    <a:pt x="0" y="1237742"/>
                    <a:pt x="0" y="1170432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22960" y="3529584"/>
            <a:ext cx="16642080" cy="969264"/>
            <a:chOff x="0" y="0"/>
            <a:chExt cx="22189440" cy="129235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189439" cy="1292352"/>
            </a:xfrm>
            <a:custGeom>
              <a:avLst/>
              <a:gdLst/>
              <a:ahLst/>
              <a:cxnLst/>
              <a:rect r="r" b="b" t="t" l="l"/>
              <a:pathLst>
                <a:path h="129235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292352"/>
                  </a:lnTo>
                  <a:lnTo>
                    <a:pt x="0" y="12923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554" r="0" b="-284554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22189440" cy="13399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Retention Engine: </a:t>
              </a:r>
              <a:r>
                <a:rPr lang="en-US" sz="22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7-strategy personalised retention offer recommendation engine mapped to customer risk profiles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48640" y="4608576"/>
            <a:ext cx="17190720" cy="969264"/>
            <a:chOff x="0" y="0"/>
            <a:chExt cx="22920960" cy="129235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920959" cy="1292352"/>
            </a:xfrm>
            <a:custGeom>
              <a:avLst/>
              <a:gdLst/>
              <a:ahLst/>
              <a:cxnLst/>
              <a:rect r="r" b="b" t="t" l="l"/>
              <a:pathLst>
                <a:path h="1292352" w="22920959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22799039" y="0"/>
                  </a:lnTo>
                  <a:cubicBezTo>
                    <a:pt x="22866350" y="0"/>
                    <a:pt x="22920959" y="54610"/>
                    <a:pt x="22920959" y="121920"/>
                  </a:cubicBezTo>
                  <a:lnTo>
                    <a:pt x="22920959" y="1170432"/>
                  </a:lnTo>
                  <a:cubicBezTo>
                    <a:pt x="22920959" y="1237742"/>
                    <a:pt x="22866350" y="1292352"/>
                    <a:pt x="22799039" y="1292352"/>
                  </a:cubicBezTo>
                  <a:lnTo>
                    <a:pt x="121920" y="1292352"/>
                  </a:lnTo>
                  <a:cubicBezTo>
                    <a:pt x="54610" y="1292352"/>
                    <a:pt x="0" y="1237742"/>
                    <a:pt x="0" y="117043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4608576"/>
            <a:ext cx="16642080" cy="969264"/>
            <a:chOff x="0" y="0"/>
            <a:chExt cx="22189440" cy="129235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189439" cy="1292352"/>
            </a:xfrm>
            <a:custGeom>
              <a:avLst/>
              <a:gdLst/>
              <a:ahLst/>
              <a:cxnLst/>
              <a:rect r="r" b="b" t="t" l="l"/>
              <a:pathLst>
                <a:path h="129235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292352"/>
                  </a:lnTo>
                  <a:lnTo>
                    <a:pt x="0" y="12923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554" r="0" b="-28455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22189440" cy="13399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Streamlit Dashboard: </a:t>
              </a:r>
              <a:r>
                <a:rPr lang="en-US" sz="22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5-page interactive dashboard: Executive Dashboard, Churn Predictor, At-Risk Customers, Model Performance, Admin Panel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48640" y="5687568"/>
            <a:ext cx="17190720" cy="969264"/>
            <a:chOff x="0" y="0"/>
            <a:chExt cx="22920960" cy="129235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2920959" cy="1292352"/>
            </a:xfrm>
            <a:custGeom>
              <a:avLst/>
              <a:gdLst/>
              <a:ahLst/>
              <a:cxnLst/>
              <a:rect r="r" b="b" t="t" l="l"/>
              <a:pathLst>
                <a:path h="1292352" w="22920959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22799039" y="0"/>
                  </a:lnTo>
                  <a:cubicBezTo>
                    <a:pt x="22866350" y="0"/>
                    <a:pt x="22920959" y="54610"/>
                    <a:pt x="22920959" y="121920"/>
                  </a:cubicBezTo>
                  <a:lnTo>
                    <a:pt x="22920959" y="1170432"/>
                  </a:lnTo>
                  <a:cubicBezTo>
                    <a:pt x="22920959" y="1237742"/>
                    <a:pt x="22866350" y="1292352"/>
                    <a:pt x="22799039" y="1292352"/>
                  </a:cubicBezTo>
                  <a:lnTo>
                    <a:pt x="121920" y="1292352"/>
                  </a:lnTo>
                  <a:cubicBezTo>
                    <a:pt x="54610" y="1292352"/>
                    <a:pt x="0" y="1237742"/>
                    <a:pt x="0" y="1170432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822960" y="5687568"/>
            <a:ext cx="16642080" cy="969264"/>
            <a:chOff x="0" y="0"/>
            <a:chExt cx="22189440" cy="129235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189439" cy="1292352"/>
            </a:xfrm>
            <a:custGeom>
              <a:avLst/>
              <a:gdLst/>
              <a:ahLst/>
              <a:cxnLst/>
              <a:rect r="r" b="b" t="t" l="l"/>
              <a:pathLst>
                <a:path h="129235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292352"/>
                  </a:lnTo>
                  <a:lnTo>
                    <a:pt x="0" y="12923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554" r="0" b="-284554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22189440" cy="13399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Authentication: </a:t>
              </a:r>
              <a:r>
                <a:rPr lang="en-US" sz="22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PBKDF2-SHA256 hashing, session management via st.session_state, complete access logging to CSV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48640" y="6766560"/>
            <a:ext cx="17190720" cy="969264"/>
            <a:chOff x="0" y="0"/>
            <a:chExt cx="22920960" cy="129235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2920959" cy="1292352"/>
            </a:xfrm>
            <a:custGeom>
              <a:avLst/>
              <a:gdLst/>
              <a:ahLst/>
              <a:cxnLst/>
              <a:rect r="r" b="b" t="t" l="l"/>
              <a:pathLst>
                <a:path h="1292352" w="22920959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22799039" y="0"/>
                  </a:lnTo>
                  <a:cubicBezTo>
                    <a:pt x="22866350" y="0"/>
                    <a:pt x="22920959" y="54610"/>
                    <a:pt x="22920959" y="121920"/>
                  </a:cubicBezTo>
                  <a:lnTo>
                    <a:pt x="22920959" y="1170432"/>
                  </a:lnTo>
                  <a:cubicBezTo>
                    <a:pt x="22920959" y="1237742"/>
                    <a:pt x="22866350" y="1292352"/>
                    <a:pt x="22799039" y="1292352"/>
                  </a:cubicBezTo>
                  <a:lnTo>
                    <a:pt x="121920" y="1292352"/>
                  </a:lnTo>
                  <a:cubicBezTo>
                    <a:pt x="54610" y="1292352"/>
                    <a:pt x="0" y="1237742"/>
                    <a:pt x="0" y="117043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822960" y="6766560"/>
            <a:ext cx="16642080" cy="969264"/>
            <a:chOff x="0" y="0"/>
            <a:chExt cx="22189440" cy="129235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2189439" cy="1292352"/>
            </a:xfrm>
            <a:custGeom>
              <a:avLst/>
              <a:gdLst/>
              <a:ahLst/>
              <a:cxnLst/>
              <a:rect r="r" b="b" t="t" l="l"/>
              <a:pathLst>
                <a:path h="129235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292352"/>
                  </a:lnTo>
                  <a:lnTo>
                    <a:pt x="0" y="12923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554" r="0" b="-284554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22189440" cy="13399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PySpark Integration: </a:t>
              </a:r>
              <a:r>
                <a:rPr lang="en-US" sz="22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Enterprise-scale distributed processing pipeline supporting 1M+ records in cluster mode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548640" y="7845552"/>
            <a:ext cx="17190720" cy="969264"/>
            <a:chOff x="0" y="0"/>
            <a:chExt cx="22920960" cy="129235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2920959" cy="1292352"/>
            </a:xfrm>
            <a:custGeom>
              <a:avLst/>
              <a:gdLst/>
              <a:ahLst/>
              <a:cxnLst/>
              <a:rect r="r" b="b" t="t" l="l"/>
              <a:pathLst>
                <a:path h="1292352" w="22920959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22799039" y="0"/>
                  </a:lnTo>
                  <a:cubicBezTo>
                    <a:pt x="22866350" y="0"/>
                    <a:pt x="22920959" y="54610"/>
                    <a:pt x="22920959" y="121920"/>
                  </a:cubicBezTo>
                  <a:lnTo>
                    <a:pt x="22920959" y="1170432"/>
                  </a:lnTo>
                  <a:cubicBezTo>
                    <a:pt x="22920959" y="1237742"/>
                    <a:pt x="22866350" y="1292352"/>
                    <a:pt x="22799039" y="1292352"/>
                  </a:cubicBezTo>
                  <a:lnTo>
                    <a:pt x="121920" y="1292352"/>
                  </a:lnTo>
                  <a:cubicBezTo>
                    <a:pt x="54610" y="1292352"/>
                    <a:pt x="0" y="1237742"/>
                    <a:pt x="0" y="1170432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822960" y="7845552"/>
            <a:ext cx="16642080" cy="969264"/>
            <a:chOff x="0" y="0"/>
            <a:chExt cx="22189440" cy="129235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2189439" cy="1292352"/>
            </a:xfrm>
            <a:custGeom>
              <a:avLst/>
              <a:gdLst/>
              <a:ahLst/>
              <a:cxnLst/>
              <a:rect r="r" b="b" t="t" l="l"/>
              <a:pathLst>
                <a:path h="129235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292352"/>
                  </a:lnTo>
                  <a:lnTo>
                    <a:pt x="0" y="12923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554" r="0" b="-284554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22189440" cy="13399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Test Suite: </a:t>
              </a:r>
              <a:r>
                <a:rPr lang="en-US" sz="22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48 unit tests across 9 test classes covering all modules — 100% pass rate achieved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6459200" y="182880"/>
            <a:ext cx="1371600" cy="1408176"/>
            <a:chOff x="0" y="0"/>
            <a:chExt cx="1828800" cy="187756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828800" cy="1877568"/>
            </a:xfrm>
            <a:custGeom>
              <a:avLst/>
              <a:gdLst/>
              <a:ahLst/>
              <a:cxnLst/>
              <a:rect r="r" b="b" t="t" l="l"/>
              <a:pathLst>
                <a:path h="187756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77568"/>
                  </a:lnTo>
                  <a:lnTo>
                    <a:pt x="0" y="1877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0629" t="-15369" r="-14905" b="-16644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459200" y="182880"/>
            <a:ext cx="1371600" cy="1371600"/>
            <a:chOff x="0" y="0"/>
            <a:chExt cx="1828800" cy="1828800"/>
          </a:xfrm>
        </p:grpSpPr>
        <p:sp>
          <p:nvSpPr>
            <p:cNvPr name="Freeform 3" id="3" descr="/home/claude/iims_logo.jpeg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2697" y="9689087"/>
            <a:ext cx="18313403" cy="610619"/>
            <a:chOff x="0" y="0"/>
            <a:chExt cx="24417871" cy="8141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17910" cy="814197"/>
            </a:xfrm>
            <a:custGeom>
              <a:avLst/>
              <a:gdLst/>
              <a:ahLst/>
              <a:cxnLst/>
              <a:rect r="r" b="b" t="t" l="l"/>
              <a:pathLst>
                <a:path h="81419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00B0F0"/>
            </a:solidFill>
            <a:ln w="25400" cap="sq">
              <a:solidFill>
                <a:srgbClr val="00B0F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365760" y="9701784"/>
            <a:ext cx="17556480" cy="585216"/>
            <a:chOff x="0" y="0"/>
            <a:chExt cx="23408640" cy="7802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408639" cy="780288"/>
            </a:xfrm>
            <a:custGeom>
              <a:avLst/>
              <a:gdLst/>
              <a:ahLst/>
              <a:cxnLst/>
              <a:rect r="r" b="b" t="t" l="l"/>
              <a:pathLst>
                <a:path h="78028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3408640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Design and Implementation of a Scalable Telecom Customer Churn Prediction and Retention Platform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31520" y="182880"/>
            <a:ext cx="15270480" cy="1005840"/>
            <a:chOff x="0" y="0"/>
            <a:chExt cx="20360640" cy="13411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3606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0360639">
                  <a:moveTo>
                    <a:pt x="0" y="0"/>
                  </a:moveTo>
                  <a:lnTo>
                    <a:pt x="20360639" y="0"/>
                  </a:lnTo>
                  <a:lnTo>
                    <a:pt x="203606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5818" r="0" b="-24581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85725"/>
              <a:ext cx="20360640" cy="1426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Technology Used</a:t>
              </a:r>
            </a:p>
          </p:txBody>
        </p:sp>
      </p:grp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548640" y="1316736"/>
          <a:ext cx="17145000" cy="7315200"/>
        </p:xfrm>
        <a:graphic>
          <a:graphicData uri="http://schemas.openxmlformats.org/drawingml/2006/table">
            <a:tbl>
              <a:tblPr/>
              <a:tblGrid>
                <a:gridCol w="4020172"/>
                <a:gridCol w="9649422"/>
                <a:gridCol w="3475406"/>
              </a:tblGrid>
              <a:tr h="6096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Component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Technology / Framework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Version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Frontend / Dashboard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Streamlit (Python-based web UI framework)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1.35+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Visualisation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Plotly Express and Plotly Graph Objects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5.20+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Backend Language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Python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3.11+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Data Processing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Pandas, NumPy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2.0+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Big Data Processing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Apache PySpark (local and cluster mode)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3.5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Machine Learning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scikit-learn, XGBoost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1.4 / 2.0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Database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PostgreSQL via SQLAlchemy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15 / 2.0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Authentication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PBKDF2-SHA256 (Python hashlib), st.session_state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—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Testing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pytest, pytest-cov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8.0+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Version Control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Git and GitHub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—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Dataset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IBM Telco Customer Churn — Kaggle (7,043 records, 21 cols)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—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9689087"/>
            <a:ext cx="18313403" cy="610619"/>
            <a:chOff x="0" y="0"/>
            <a:chExt cx="24417871" cy="8141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814197"/>
            </a:xfrm>
            <a:custGeom>
              <a:avLst/>
              <a:gdLst/>
              <a:ahLst/>
              <a:cxnLst/>
              <a:rect r="r" b="b" t="t" l="l"/>
              <a:pathLst>
                <a:path h="81419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00B0F0"/>
            </a:solidFill>
            <a:ln w="25400" cap="sq">
              <a:solidFill>
                <a:srgbClr val="00B0F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365760" y="9701784"/>
            <a:ext cx="17556480" cy="585216"/>
            <a:chOff x="0" y="0"/>
            <a:chExt cx="23408640" cy="7802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408639" cy="780288"/>
            </a:xfrm>
            <a:custGeom>
              <a:avLst/>
              <a:gdLst/>
              <a:ahLst/>
              <a:cxnLst/>
              <a:rect r="r" b="b" t="t" l="l"/>
              <a:pathLst>
                <a:path h="78028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3408640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Design and Implementation of a Scalable Telecom Customer Churn Prediction and Retention Platform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31520" y="182880"/>
            <a:ext cx="15270480" cy="1005840"/>
            <a:chOff x="0" y="0"/>
            <a:chExt cx="20360640" cy="13411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3606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0360639">
                  <a:moveTo>
                    <a:pt x="0" y="0"/>
                  </a:moveTo>
                  <a:lnTo>
                    <a:pt x="20360639" y="0"/>
                  </a:lnTo>
                  <a:lnTo>
                    <a:pt x="203606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818" r="0" b="-24581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85725"/>
              <a:ext cx="20360640" cy="1426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Functional Requirements</a:t>
              </a:r>
            </a:p>
          </p:txBody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548640" y="1316736"/>
          <a:ext cx="17170400" cy="7543800"/>
        </p:xfrm>
        <a:graphic>
          <a:graphicData uri="http://schemas.openxmlformats.org/drawingml/2006/table">
            <a:tbl>
              <a:tblPr/>
              <a:tblGrid>
                <a:gridCol w="1571049"/>
                <a:gridCol w="2480337"/>
                <a:gridCol w="13119014"/>
              </a:tblGrid>
              <a:tr h="685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FR ID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Module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Requirement Description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FR-01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ETL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Extract data from IBM Telco CSV; validate all 21 required columns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FR-02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ETL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Clean data: fix TotalCharges type, impute median, remove duplicates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FR-03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ETL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Engineer features: tenure_group, RevenueCategory, AnnualRevenue, LoyaltyScore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FR-04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ETL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Load cleaned and scored data to PostgreSQL in two tables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FR-05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Train 3 ML models; auto-select best by ROC-AUC score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FR-06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Score all customers with ChurnProbability and ChurnRisk (High/Medium/Low)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FR-07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Recommend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Generate personalised retention offers for at-risk customers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FR-08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Dashboard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Display KPIs, charts, and at-risk lists across 5 Streamlit pages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FR-09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Auth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Authenticate users with PBKDF2-SHA256 hashed passwords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FR-10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Admin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Admin: add/delete users, change passwords, view complete access log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</a:tbl>
          </a:graphicData>
        </a:graphic>
      </p:graphicFrame>
      <p:grpSp>
        <p:nvGrpSpPr>
          <p:cNvPr name="Group 11" id="11"/>
          <p:cNvGrpSpPr/>
          <p:nvPr/>
        </p:nvGrpSpPr>
        <p:grpSpPr>
          <a:xfrm rot="0">
            <a:off x="16459200" y="182880"/>
            <a:ext cx="1371600" cy="1408176"/>
            <a:chOff x="0" y="0"/>
            <a:chExt cx="1828800" cy="18775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28800" cy="1877568"/>
            </a:xfrm>
            <a:custGeom>
              <a:avLst/>
              <a:gdLst/>
              <a:ahLst/>
              <a:cxnLst/>
              <a:rect r="r" b="b" t="t" l="l"/>
              <a:pathLst>
                <a:path h="187756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77568"/>
                  </a:lnTo>
                  <a:lnTo>
                    <a:pt x="0" y="1877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0629" t="-15369" r="-14905" b="-16644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9689087"/>
            <a:ext cx="18313403" cy="610619"/>
            <a:chOff x="0" y="0"/>
            <a:chExt cx="24417871" cy="8141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814197"/>
            </a:xfrm>
            <a:custGeom>
              <a:avLst/>
              <a:gdLst/>
              <a:ahLst/>
              <a:cxnLst/>
              <a:rect r="r" b="b" t="t" l="l"/>
              <a:pathLst>
                <a:path h="81419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00B0F0"/>
            </a:solidFill>
            <a:ln w="25400" cap="sq">
              <a:solidFill>
                <a:srgbClr val="00B0F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365760" y="9701784"/>
            <a:ext cx="17556480" cy="585216"/>
            <a:chOff x="0" y="0"/>
            <a:chExt cx="23408640" cy="7802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408639" cy="780288"/>
            </a:xfrm>
            <a:custGeom>
              <a:avLst/>
              <a:gdLst/>
              <a:ahLst/>
              <a:cxnLst/>
              <a:rect r="r" b="b" t="t" l="l"/>
              <a:pathLst>
                <a:path h="78028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3408640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Design and Implementation of a Scalable Telecom Customer Churn Prediction and Retention Platform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31520" y="182880"/>
            <a:ext cx="15270480" cy="1005840"/>
            <a:chOff x="0" y="0"/>
            <a:chExt cx="20360640" cy="13411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3606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0360639">
                  <a:moveTo>
                    <a:pt x="0" y="0"/>
                  </a:moveTo>
                  <a:lnTo>
                    <a:pt x="20360639" y="0"/>
                  </a:lnTo>
                  <a:lnTo>
                    <a:pt x="203606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818" r="0" b="-24581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85725"/>
              <a:ext cx="20360640" cy="1426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UML Diagrams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48640" y="1371600"/>
            <a:ext cx="8503920" cy="2651760"/>
            <a:chOff x="0" y="0"/>
            <a:chExt cx="11338560" cy="35356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338560" cy="3535680"/>
            </a:xfrm>
            <a:custGeom>
              <a:avLst/>
              <a:gdLst/>
              <a:ahLst/>
              <a:cxnLst/>
              <a:rect r="r" b="b" t="t" l="l"/>
              <a:pathLst>
                <a:path h="3535680" w="11338560">
                  <a:moveTo>
                    <a:pt x="0" y="170688"/>
                  </a:moveTo>
                  <a:cubicBezTo>
                    <a:pt x="0" y="76454"/>
                    <a:pt x="76454" y="0"/>
                    <a:pt x="170688" y="0"/>
                  </a:cubicBezTo>
                  <a:lnTo>
                    <a:pt x="11167872" y="0"/>
                  </a:lnTo>
                  <a:cubicBezTo>
                    <a:pt x="11262106" y="0"/>
                    <a:pt x="11338560" y="76454"/>
                    <a:pt x="11338560" y="170688"/>
                  </a:cubicBezTo>
                  <a:lnTo>
                    <a:pt x="11338560" y="3364992"/>
                  </a:lnTo>
                  <a:cubicBezTo>
                    <a:pt x="11338560" y="3459226"/>
                    <a:pt x="11262106" y="3535680"/>
                    <a:pt x="11167872" y="3535680"/>
                  </a:cubicBezTo>
                  <a:lnTo>
                    <a:pt x="170688" y="3535680"/>
                  </a:lnTo>
                  <a:cubicBezTo>
                    <a:pt x="76454" y="3535680"/>
                    <a:pt x="0" y="3459226"/>
                    <a:pt x="0" y="3364992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859536" y="1525524"/>
            <a:ext cx="7900416" cy="232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070C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Use Case Diagram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Two actors: User (login, dashboard, predictor, export) and Admin (all user actions + ETL execution, user management, access log)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418320" y="1371600"/>
            <a:ext cx="8503920" cy="2651760"/>
            <a:chOff x="0" y="0"/>
            <a:chExt cx="11338560" cy="35356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338560" cy="3535680"/>
            </a:xfrm>
            <a:custGeom>
              <a:avLst/>
              <a:gdLst/>
              <a:ahLst/>
              <a:cxnLst/>
              <a:rect r="r" b="b" t="t" l="l"/>
              <a:pathLst>
                <a:path h="3535680" w="11338560">
                  <a:moveTo>
                    <a:pt x="0" y="170688"/>
                  </a:moveTo>
                  <a:cubicBezTo>
                    <a:pt x="0" y="76454"/>
                    <a:pt x="76454" y="0"/>
                    <a:pt x="170688" y="0"/>
                  </a:cubicBezTo>
                  <a:lnTo>
                    <a:pt x="11167872" y="0"/>
                  </a:lnTo>
                  <a:cubicBezTo>
                    <a:pt x="11262106" y="0"/>
                    <a:pt x="11338560" y="76454"/>
                    <a:pt x="11338560" y="170688"/>
                  </a:cubicBezTo>
                  <a:lnTo>
                    <a:pt x="11338560" y="3364992"/>
                  </a:lnTo>
                  <a:cubicBezTo>
                    <a:pt x="11338560" y="3459226"/>
                    <a:pt x="11262106" y="3535680"/>
                    <a:pt x="11167872" y="3535680"/>
                  </a:cubicBezTo>
                  <a:lnTo>
                    <a:pt x="170688" y="3535680"/>
                  </a:lnTo>
                  <a:cubicBezTo>
                    <a:pt x="76454" y="3535680"/>
                    <a:pt x="0" y="3459226"/>
                    <a:pt x="0" y="3364992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729216" y="1525524"/>
            <a:ext cx="7900416" cy="232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070C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Class Diagram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8 core classes: DataExtractor, DataTransformer, DataLoader, ModelTrainer, ChurnPredictor, OfferEngine, AuthManager, SparkETL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548640" y="1371600"/>
            <a:ext cx="8503920" cy="2651760"/>
            <a:chOff x="0" y="0"/>
            <a:chExt cx="11338560" cy="35356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338560" cy="3535680"/>
            </a:xfrm>
            <a:custGeom>
              <a:avLst/>
              <a:gdLst/>
              <a:ahLst/>
              <a:cxnLst/>
              <a:rect r="r" b="b" t="t" l="l"/>
              <a:pathLst>
                <a:path h="3535680" w="11338560">
                  <a:moveTo>
                    <a:pt x="0" y="170688"/>
                  </a:moveTo>
                  <a:cubicBezTo>
                    <a:pt x="0" y="76454"/>
                    <a:pt x="76454" y="0"/>
                    <a:pt x="170688" y="0"/>
                  </a:cubicBezTo>
                  <a:lnTo>
                    <a:pt x="11167872" y="0"/>
                  </a:lnTo>
                  <a:cubicBezTo>
                    <a:pt x="11262106" y="0"/>
                    <a:pt x="11338560" y="76454"/>
                    <a:pt x="11338560" y="170688"/>
                  </a:cubicBezTo>
                  <a:lnTo>
                    <a:pt x="11338560" y="3364992"/>
                  </a:lnTo>
                  <a:cubicBezTo>
                    <a:pt x="11338560" y="3459226"/>
                    <a:pt x="11262106" y="3535680"/>
                    <a:pt x="11167872" y="3535680"/>
                  </a:cubicBezTo>
                  <a:lnTo>
                    <a:pt x="170688" y="3535680"/>
                  </a:lnTo>
                  <a:cubicBezTo>
                    <a:pt x="76454" y="3535680"/>
                    <a:pt x="0" y="3459226"/>
                    <a:pt x="0" y="3364992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859536" y="1525524"/>
            <a:ext cx="7900416" cy="232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070C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Activity Diagram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ETL pipeline flow: CSV extraction → column validation → backup → cleaning → feature engineering → ML training → scoring → offer generation → PostgreSQL load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418320" y="4261104"/>
            <a:ext cx="8503920" cy="2651760"/>
            <a:chOff x="0" y="0"/>
            <a:chExt cx="11338560" cy="35356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338560" cy="3535680"/>
            </a:xfrm>
            <a:custGeom>
              <a:avLst/>
              <a:gdLst/>
              <a:ahLst/>
              <a:cxnLst/>
              <a:rect r="r" b="b" t="t" l="l"/>
              <a:pathLst>
                <a:path h="3535680" w="11338560">
                  <a:moveTo>
                    <a:pt x="0" y="170688"/>
                  </a:moveTo>
                  <a:cubicBezTo>
                    <a:pt x="0" y="76454"/>
                    <a:pt x="76454" y="0"/>
                    <a:pt x="170688" y="0"/>
                  </a:cubicBezTo>
                  <a:lnTo>
                    <a:pt x="11167872" y="0"/>
                  </a:lnTo>
                  <a:cubicBezTo>
                    <a:pt x="11262106" y="0"/>
                    <a:pt x="11338560" y="76454"/>
                    <a:pt x="11338560" y="170688"/>
                  </a:cubicBezTo>
                  <a:lnTo>
                    <a:pt x="11338560" y="3364992"/>
                  </a:lnTo>
                  <a:cubicBezTo>
                    <a:pt x="11338560" y="3459226"/>
                    <a:pt x="11262106" y="3535680"/>
                    <a:pt x="11167872" y="3535680"/>
                  </a:cubicBezTo>
                  <a:lnTo>
                    <a:pt x="170688" y="3535680"/>
                  </a:lnTo>
                  <a:cubicBezTo>
                    <a:pt x="76454" y="3535680"/>
                    <a:pt x="0" y="3459226"/>
                    <a:pt x="0" y="3364992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9729216" y="4415028"/>
            <a:ext cx="7900416" cy="232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070C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Sequence Diagram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Login sequence (PBKDF2 verification → access log) and Prediction sequence (predict_proba() → offer card → gauge chart)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548640" y="4261104"/>
            <a:ext cx="8503920" cy="2651760"/>
            <a:chOff x="0" y="0"/>
            <a:chExt cx="11338560" cy="35356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338560" cy="3535680"/>
            </a:xfrm>
            <a:custGeom>
              <a:avLst/>
              <a:gdLst/>
              <a:ahLst/>
              <a:cxnLst/>
              <a:rect r="r" b="b" t="t" l="l"/>
              <a:pathLst>
                <a:path h="3535680" w="11338560">
                  <a:moveTo>
                    <a:pt x="0" y="170688"/>
                  </a:moveTo>
                  <a:cubicBezTo>
                    <a:pt x="0" y="76454"/>
                    <a:pt x="76454" y="0"/>
                    <a:pt x="170688" y="0"/>
                  </a:cubicBezTo>
                  <a:lnTo>
                    <a:pt x="11167872" y="0"/>
                  </a:lnTo>
                  <a:cubicBezTo>
                    <a:pt x="11262106" y="0"/>
                    <a:pt x="11338560" y="76454"/>
                    <a:pt x="11338560" y="170688"/>
                  </a:cubicBezTo>
                  <a:lnTo>
                    <a:pt x="11338560" y="3364992"/>
                  </a:lnTo>
                  <a:cubicBezTo>
                    <a:pt x="11338560" y="3459226"/>
                    <a:pt x="11262106" y="3535680"/>
                    <a:pt x="11167872" y="3535680"/>
                  </a:cubicBezTo>
                  <a:lnTo>
                    <a:pt x="170688" y="3535680"/>
                  </a:lnTo>
                  <a:cubicBezTo>
                    <a:pt x="76454" y="3535680"/>
                    <a:pt x="0" y="3459226"/>
                    <a:pt x="0" y="3364992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859536" y="4415028"/>
            <a:ext cx="7900416" cy="232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070C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Component Diagram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All system components across 3 layers: processing (CSV→extract→transform→train), logic (load→predict→recommend→auth→app), storage (DB/files)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418320" y="4261104"/>
            <a:ext cx="8503920" cy="2651760"/>
            <a:chOff x="0" y="0"/>
            <a:chExt cx="11338560" cy="35356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338560" cy="3535680"/>
            </a:xfrm>
            <a:custGeom>
              <a:avLst/>
              <a:gdLst/>
              <a:ahLst/>
              <a:cxnLst/>
              <a:rect r="r" b="b" t="t" l="l"/>
              <a:pathLst>
                <a:path h="3535680" w="11338560">
                  <a:moveTo>
                    <a:pt x="0" y="170688"/>
                  </a:moveTo>
                  <a:cubicBezTo>
                    <a:pt x="0" y="76454"/>
                    <a:pt x="76454" y="0"/>
                    <a:pt x="170688" y="0"/>
                  </a:cubicBezTo>
                  <a:lnTo>
                    <a:pt x="11167872" y="0"/>
                  </a:lnTo>
                  <a:cubicBezTo>
                    <a:pt x="11262106" y="0"/>
                    <a:pt x="11338560" y="76454"/>
                    <a:pt x="11338560" y="170688"/>
                  </a:cubicBezTo>
                  <a:lnTo>
                    <a:pt x="11338560" y="3364992"/>
                  </a:lnTo>
                  <a:cubicBezTo>
                    <a:pt x="11338560" y="3459226"/>
                    <a:pt x="11262106" y="3535680"/>
                    <a:pt x="11167872" y="3535680"/>
                  </a:cubicBezTo>
                  <a:lnTo>
                    <a:pt x="170688" y="3535680"/>
                  </a:lnTo>
                  <a:cubicBezTo>
                    <a:pt x="76454" y="3535680"/>
                    <a:pt x="0" y="3459226"/>
                    <a:pt x="0" y="3364992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9729216" y="4415028"/>
            <a:ext cx="7900416" cy="232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070C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Module Hierarchy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4 top-level subsystems: ETL Layer, ML Layer, App Layer, Auth Layer — each decomposed to individual functions and methods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6459200" y="182880"/>
            <a:ext cx="1371600" cy="1408176"/>
            <a:chOff x="0" y="0"/>
            <a:chExt cx="1828800" cy="187756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828800" cy="1877568"/>
            </a:xfrm>
            <a:custGeom>
              <a:avLst/>
              <a:gdLst/>
              <a:ahLst/>
              <a:cxnLst/>
              <a:rect r="r" b="b" t="t" l="l"/>
              <a:pathLst>
                <a:path h="187756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77568"/>
                  </a:lnTo>
                  <a:lnTo>
                    <a:pt x="0" y="1877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0629" t="-15369" r="-14905" b="-16644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9689087"/>
            <a:ext cx="18313403" cy="610619"/>
            <a:chOff x="0" y="0"/>
            <a:chExt cx="24417871" cy="8141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814197"/>
            </a:xfrm>
            <a:custGeom>
              <a:avLst/>
              <a:gdLst/>
              <a:ahLst/>
              <a:cxnLst/>
              <a:rect r="r" b="b" t="t" l="l"/>
              <a:pathLst>
                <a:path h="81419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00B0F0"/>
            </a:solidFill>
            <a:ln w="25400" cap="sq">
              <a:solidFill>
                <a:srgbClr val="00B0F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365760" y="9701784"/>
            <a:ext cx="17556480" cy="585216"/>
            <a:chOff x="0" y="0"/>
            <a:chExt cx="23408640" cy="7802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408639" cy="780288"/>
            </a:xfrm>
            <a:custGeom>
              <a:avLst/>
              <a:gdLst/>
              <a:ahLst/>
              <a:cxnLst/>
              <a:rect r="r" b="b" t="t" l="l"/>
              <a:pathLst>
                <a:path h="78028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3408640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Design and Implementation of a Scalable Telecom Customer Churn Prediction and Retention Platform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31520" y="182880"/>
            <a:ext cx="15270480" cy="1005840"/>
            <a:chOff x="0" y="0"/>
            <a:chExt cx="20360640" cy="13411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3606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0360639">
                  <a:moveTo>
                    <a:pt x="0" y="0"/>
                  </a:moveTo>
                  <a:lnTo>
                    <a:pt x="20360639" y="0"/>
                  </a:lnTo>
                  <a:lnTo>
                    <a:pt x="203606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818" r="0" b="-24581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85725"/>
              <a:ext cx="20360640" cy="1426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ER Diagram &amp; Database Design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31520" y="1371600"/>
            <a:ext cx="16824960" cy="914400"/>
            <a:chOff x="0" y="0"/>
            <a:chExt cx="22433280" cy="1219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433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8524" r="0" b="-30852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243328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55555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 system uses PostgreSQL as the primary analytical store with two main tables. User credentials are stored in users.json and the access log is maintained in logs/access_log.csv.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48640" y="2340864"/>
            <a:ext cx="8229600" cy="640080"/>
            <a:chOff x="0" y="0"/>
            <a:chExt cx="10972800" cy="8534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097280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customer_churn_raw</a:t>
              </a:r>
            </a:p>
          </p:txBody>
        </p:sp>
      </p:grpSp>
      <p:graphicFrame>
        <p:nvGraphicFramePr>
          <p:cNvPr name="Table 16" id="16"/>
          <p:cNvGraphicFramePr>
            <a:graphicFrameLocks noGrp="true"/>
          </p:cNvGraphicFramePr>
          <p:nvPr/>
        </p:nvGraphicFramePr>
        <p:xfrm>
          <a:off x="548640" y="2962656"/>
          <a:ext cx="8483600" cy="5029200"/>
        </p:xfrm>
        <a:graphic>
          <a:graphicData uri="http://schemas.openxmlformats.org/drawingml/2006/table">
            <a:tbl>
              <a:tblPr/>
              <a:tblGrid>
                <a:gridCol w="2278653"/>
                <a:gridCol w="2008219"/>
                <a:gridCol w="1918075"/>
                <a:gridCol w="2278653"/>
              </a:tblGrid>
              <a:tr h="558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Column Name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Data Type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Constraint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Description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customerID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VARCHAR(50)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PRIMARY KEY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Unique 7-char customer ID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gender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VARCHAR(10)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NULL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Male or Female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SeniorCitizen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SMALLINT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NULL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 = No, 1 = Yes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tenure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NULL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Months with company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MonthlyCharges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FLOAT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NULL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Monthly billing amount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TotalCharges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FLOAT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NULL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Cumulative charges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Contract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VARCHAR(50)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NULL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Month-to-month / 1yr / 2yr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Churn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VARCHAR(10)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NULL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Yes or No (raw label)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</a:tbl>
          </a:graphicData>
        </a:graphic>
      </p:graphicFrame>
      <p:grpSp>
        <p:nvGrpSpPr>
          <p:cNvPr name="Group 17" id="17"/>
          <p:cNvGrpSpPr/>
          <p:nvPr/>
        </p:nvGrpSpPr>
        <p:grpSpPr>
          <a:xfrm rot="0">
            <a:off x="9326880" y="2340864"/>
            <a:ext cx="8229600" cy="640080"/>
            <a:chOff x="0" y="0"/>
            <a:chExt cx="10972800" cy="8534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097280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customer_churn_cleaned (key columns)</a:t>
              </a:r>
            </a:p>
          </p:txBody>
        </p:sp>
      </p:grpSp>
      <p:graphicFrame>
        <p:nvGraphicFramePr>
          <p:cNvPr name="Table 20" id="20"/>
          <p:cNvGraphicFramePr>
            <a:graphicFrameLocks noGrp="true"/>
          </p:cNvGraphicFramePr>
          <p:nvPr/>
        </p:nvGraphicFramePr>
        <p:xfrm>
          <a:off x="9326880" y="2962656"/>
          <a:ext cx="8356600" cy="5588000"/>
        </p:xfrm>
        <a:graphic>
          <a:graphicData uri="http://schemas.openxmlformats.org/drawingml/2006/table">
            <a:tbl>
              <a:tblPr/>
              <a:tblGrid>
                <a:gridCol w="2545487"/>
                <a:gridCol w="2095401"/>
                <a:gridCol w="3715711"/>
              </a:tblGrid>
              <a:tr h="558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Column Name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Data Type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Description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customerID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VARCHAR(50)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PRIMARY KEY — unique ID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Churn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SMALLINT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 = Churned, 0 = Retained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tenure_group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VARCHAR(20)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0-1yr, 1-2yr, 2-4yr, 4-6yr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RevenueCategory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VARCHAR(10)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Low / Medium / High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AnnualRevenue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FLOAT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MonthlyCharges × 12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LoyaltyScore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FLOAT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Normalised tenure (0.0–1.0)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ChurnProbability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FLOAT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ML predicted probability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ChurnRisk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VARCHAR(10)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Low / Medium / High risk tier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OfferTitle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VARCHAR(100)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Recommended retention offer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21" id="21"/>
          <p:cNvGrpSpPr/>
          <p:nvPr/>
        </p:nvGrpSpPr>
        <p:grpSpPr>
          <a:xfrm rot="0">
            <a:off x="16459200" y="182880"/>
            <a:ext cx="1371600" cy="1408176"/>
            <a:chOff x="0" y="0"/>
            <a:chExt cx="1828800" cy="187756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828800" cy="1877568"/>
            </a:xfrm>
            <a:custGeom>
              <a:avLst/>
              <a:gdLst/>
              <a:ahLst/>
              <a:cxnLst/>
              <a:rect r="r" b="b" t="t" l="l"/>
              <a:pathLst>
                <a:path h="187756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77568"/>
                  </a:lnTo>
                  <a:lnTo>
                    <a:pt x="0" y="1877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0629" t="-15369" r="-14905" b="-16644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9689087"/>
            <a:ext cx="18313403" cy="610619"/>
            <a:chOff x="0" y="0"/>
            <a:chExt cx="24417871" cy="8141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814197"/>
            </a:xfrm>
            <a:custGeom>
              <a:avLst/>
              <a:gdLst/>
              <a:ahLst/>
              <a:cxnLst/>
              <a:rect r="r" b="b" t="t" l="l"/>
              <a:pathLst>
                <a:path h="81419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00B0F0"/>
            </a:solidFill>
            <a:ln w="25400" cap="sq">
              <a:solidFill>
                <a:srgbClr val="00B0F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365760" y="9701784"/>
            <a:ext cx="17556480" cy="585216"/>
            <a:chOff x="0" y="0"/>
            <a:chExt cx="23408640" cy="7802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408639" cy="780288"/>
            </a:xfrm>
            <a:custGeom>
              <a:avLst/>
              <a:gdLst/>
              <a:ahLst/>
              <a:cxnLst/>
              <a:rect r="r" b="b" t="t" l="l"/>
              <a:pathLst>
                <a:path h="78028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3408640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Design and Implementation of a Scalable Telecom Customer Churn Prediction and Retention Platform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31520" y="182880"/>
            <a:ext cx="15270480" cy="1005840"/>
            <a:chOff x="0" y="0"/>
            <a:chExt cx="20360640" cy="13411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3606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0360639">
                  <a:moveTo>
                    <a:pt x="0" y="0"/>
                  </a:moveTo>
                  <a:lnTo>
                    <a:pt x="20360639" y="0"/>
                  </a:lnTo>
                  <a:lnTo>
                    <a:pt x="203606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818" r="0" b="-24581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85725"/>
              <a:ext cx="20360640" cy="1426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Dictionary — Key Fields</a:t>
              </a:r>
            </a:p>
          </p:txBody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548640" y="1316736"/>
          <a:ext cx="17145000" cy="7620000"/>
        </p:xfrm>
        <a:graphic>
          <a:graphicData uri="http://schemas.openxmlformats.org/drawingml/2006/table">
            <a:tbl>
              <a:tblPr/>
              <a:tblGrid>
                <a:gridCol w="2835674"/>
                <a:gridCol w="1929064"/>
                <a:gridCol w="2926335"/>
                <a:gridCol w="9453926"/>
              </a:tblGrid>
              <a:tr h="6350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Field Name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Type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Range / Values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Description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customerID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String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Unique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7-character alphanumeric ID assigned to each customer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tenure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Integer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 to 72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Number of months the customer has been with the company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MonthlyCharges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Float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18.25 – 118.75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Amount charged to the customer monthly in USD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TotalCharges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Float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18.85 – 8684.8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Total amount charged; blank entries imputed with median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Churn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Binary Int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 or 1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Target variable: 1 = churned, 0 = retained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ChurnProbability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Float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0.0 to 1.0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ML-predicted probability of churn for each customer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ChurnRisk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String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Low / Med / High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Low &lt; 35%, Medium 35–65%, High &gt; 65%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LoyaltyScore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Float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0.0 to 1.0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Normalised tenure: tenure / maximum tenure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AnnualRevenue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Float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219 – 1425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Projected annual revenue: MonthlyCharges × 12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RevenueCategory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String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Low/Med/High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Low &lt; ₹35, Medium ₹35–70, High &gt; ₹70 monthly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OfferTitle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String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7 offer types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Recommended retention offer for each at-risk customer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1" id="11"/>
          <p:cNvGrpSpPr/>
          <p:nvPr/>
        </p:nvGrpSpPr>
        <p:grpSpPr>
          <a:xfrm rot="0">
            <a:off x="16459200" y="182880"/>
            <a:ext cx="1371600" cy="1408176"/>
            <a:chOff x="0" y="0"/>
            <a:chExt cx="1828800" cy="18775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28800" cy="1877568"/>
            </a:xfrm>
            <a:custGeom>
              <a:avLst/>
              <a:gdLst/>
              <a:ahLst/>
              <a:cxnLst/>
              <a:rect r="r" b="b" t="t" l="l"/>
              <a:pathLst>
                <a:path h="187756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77568"/>
                  </a:lnTo>
                  <a:lnTo>
                    <a:pt x="0" y="1877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0629" t="-15369" r="-14905" b="-16644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9689087"/>
            <a:ext cx="18313403" cy="610619"/>
            <a:chOff x="0" y="0"/>
            <a:chExt cx="24417871" cy="8141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814197"/>
            </a:xfrm>
            <a:custGeom>
              <a:avLst/>
              <a:gdLst/>
              <a:ahLst/>
              <a:cxnLst/>
              <a:rect r="r" b="b" t="t" l="l"/>
              <a:pathLst>
                <a:path h="81419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00B0F0"/>
            </a:solidFill>
            <a:ln w="25400" cap="sq">
              <a:solidFill>
                <a:srgbClr val="00B0F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365760" y="9701784"/>
            <a:ext cx="17556480" cy="585216"/>
            <a:chOff x="0" y="0"/>
            <a:chExt cx="23408640" cy="7802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408639" cy="780288"/>
            </a:xfrm>
            <a:custGeom>
              <a:avLst/>
              <a:gdLst/>
              <a:ahLst/>
              <a:cxnLst/>
              <a:rect r="r" b="b" t="t" l="l"/>
              <a:pathLst>
                <a:path h="78028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3408640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Design and Implementation of a Scalable Telecom Customer Churn Prediction and Retention Platform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31520" y="182880"/>
            <a:ext cx="15270480" cy="1005840"/>
            <a:chOff x="0" y="0"/>
            <a:chExt cx="20360640" cy="13411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3606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0360639">
                  <a:moveTo>
                    <a:pt x="0" y="0"/>
                  </a:moveTo>
                  <a:lnTo>
                    <a:pt x="20360639" y="0"/>
                  </a:lnTo>
                  <a:lnTo>
                    <a:pt x="203606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818" r="0" b="-24581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85725"/>
              <a:ext cx="20360640" cy="1426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Screenshots &amp; Reports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48640" y="182880"/>
            <a:ext cx="17282160" cy="9354219"/>
            <a:chOff x="0" y="0"/>
            <a:chExt cx="23042880" cy="12472292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7552116" y="1028700"/>
              <a:ext cx="15490764" cy="11443592"/>
              <a:chOff x="0" y="0"/>
              <a:chExt cx="15490764" cy="11443592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5490765" cy="11443592"/>
              </a:xfrm>
              <a:custGeom>
                <a:avLst/>
                <a:gdLst/>
                <a:ahLst/>
                <a:cxnLst/>
                <a:rect r="r" b="b" t="t" l="l"/>
                <a:pathLst>
                  <a:path h="11443592" w="15490765">
                    <a:moveTo>
                      <a:pt x="0" y="564121"/>
                    </a:moveTo>
                    <a:cubicBezTo>
                      <a:pt x="0" y="252679"/>
                      <a:pt x="104452" y="0"/>
                      <a:pt x="233194" y="0"/>
                    </a:cubicBezTo>
                    <a:lnTo>
                      <a:pt x="15257569" y="0"/>
                    </a:lnTo>
                    <a:cubicBezTo>
                      <a:pt x="15386312" y="0"/>
                      <a:pt x="15490765" y="252679"/>
                      <a:pt x="15490765" y="564121"/>
                    </a:cubicBezTo>
                    <a:lnTo>
                      <a:pt x="15490765" y="10879472"/>
                    </a:lnTo>
                    <a:cubicBezTo>
                      <a:pt x="15490765" y="11190914"/>
                      <a:pt x="15386312" y="11443592"/>
                      <a:pt x="15257569" y="11443592"/>
                    </a:cubicBezTo>
                    <a:lnTo>
                      <a:pt x="233194" y="11443592"/>
                    </a:lnTo>
                    <a:cubicBezTo>
                      <a:pt x="104452" y="11443592"/>
                      <a:pt x="0" y="11190913"/>
                      <a:pt x="0" y="10879472"/>
                    </a:cubicBezTo>
                    <a:close/>
                  </a:path>
                </a:pathLst>
              </a:custGeom>
              <a:solidFill>
                <a:srgbClr val="EFF6FF"/>
              </a:solidFill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0" y="1028700"/>
              <a:ext cx="7344755" cy="11443592"/>
              <a:chOff x="0" y="0"/>
              <a:chExt cx="7344755" cy="11443592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7344755" cy="11443592"/>
              </a:xfrm>
              <a:custGeom>
                <a:avLst/>
                <a:gdLst/>
                <a:ahLst/>
                <a:cxnLst/>
                <a:rect r="r" b="b" t="t" l="l"/>
                <a:pathLst>
                  <a:path h="11443592" w="7344755">
                    <a:moveTo>
                      <a:pt x="0" y="564121"/>
                    </a:moveTo>
                    <a:cubicBezTo>
                      <a:pt x="0" y="252679"/>
                      <a:pt x="49524" y="0"/>
                      <a:pt x="110566" y="0"/>
                    </a:cubicBezTo>
                    <a:lnTo>
                      <a:pt x="7234188" y="0"/>
                    </a:lnTo>
                    <a:cubicBezTo>
                      <a:pt x="7295230" y="0"/>
                      <a:pt x="7344755" y="252679"/>
                      <a:pt x="7344755" y="564121"/>
                    </a:cubicBezTo>
                    <a:lnTo>
                      <a:pt x="7344755" y="10879472"/>
                    </a:lnTo>
                    <a:cubicBezTo>
                      <a:pt x="7344755" y="11190914"/>
                      <a:pt x="7295230" y="11443592"/>
                      <a:pt x="7234188" y="11443592"/>
                    </a:cubicBezTo>
                    <a:lnTo>
                      <a:pt x="110566" y="11443592"/>
                    </a:lnTo>
                    <a:cubicBezTo>
                      <a:pt x="49524" y="11443592"/>
                      <a:pt x="0" y="11190913"/>
                      <a:pt x="0" y="10879472"/>
                    </a:cubicBezTo>
                    <a:close/>
                  </a:path>
                </a:pathLst>
              </a:custGeom>
              <a:solidFill>
                <a:srgbClr val="EFF6FF"/>
              </a:solidFill>
            </p:spPr>
          </p:sp>
        </p:grpSp>
        <p:grpSp>
          <p:nvGrpSpPr>
            <p:cNvPr name="Group 15" id="15"/>
            <p:cNvGrpSpPr/>
            <p:nvPr/>
          </p:nvGrpSpPr>
          <p:grpSpPr>
            <a:xfrm rot="0">
              <a:off x="335280" y="1242952"/>
              <a:ext cx="6704675" cy="9921240"/>
              <a:chOff x="0" y="0"/>
              <a:chExt cx="549282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5492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549282">
                    <a:moveTo>
                      <a:pt x="20015" y="0"/>
                    </a:moveTo>
                    <a:lnTo>
                      <a:pt x="529267" y="0"/>
                    </a:lnTo>
                    <a:cubicBezTo>
                      <a:pt x="534575" y="0"/>
                      <a:pt x="539666" y="2109"/>
                      <a:pt x="543420" y="5862"/>
                    </a:cubicBezTo>
                    <a:cubicBezTo>
                      <a:pt x="547173" y="9616"/>
                      <a:pt x="549282" y="14707"/>
                      <a:pt x="549282" y="20015"/>
                    </a:cubicBezTo>
                    <a:lnTo>
                      <a:pt x="549282" y="792785"/>
                    </a:lnTo>
                    <a:cubicBezTo>
                      <a:pt x="549282" y="803839"/>
                      <a:pt x="540321" y="812800"/>
                      <a:pt x="529267" y="812800"/>
                    </a:cubicBezTo>
                    <a:lnTo>
                      <a:pt x="20015" y="812800"/>
                    </a:lnTo>
                    <a:cubicBezTo>
                      <a:pt x="8961" y="812800"/>
                      <a:pt x="0" y="803839"/>
                      <a:pt x="0" y="792785"/>
                    </a:cubicBezTo>
                    <a:lnTo>
                      <a:pt x="0" y="20015"/>
                    </a:lnTo>
                    <a:cubicBezTo>
                      <a:pt x="0" y="8961"/>
                      <a:pt x="8961" y="0"/>
                      <a:pt x="20015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l="-5104" t="0" r="-6432" b="-34164"/>
                </a:stretch>
              </a:blipFill>
              <a:ln w="142875" cap="sq">
                <a:solidFill>
                  <a:srgbClr val="000000"/>
                </a:solidFill>
                <a:prstDash val="solid"/>
                <a:miter/>
              </a:ln>
            </p:spPr>
          </p:sp>
        </p:grpSp>
        <p:grpSp>
          <p:nvGrpSpPr>
            <p:cNvPr name="Group 17" id="17"/>
            <p:cNvGrpSpPr/>
            <p:nvPr/>
          </p:nvGrpSpPr>
          <p:grpSpPr>
            <a:xfrm rot="0">
              <a:off x="7853981" y="1242952"/>
              <a:ext cx="14966169" cy="9921240"/>
              <a:chOff x="0" y="0"/>
              <a:chExt cx="1226107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226107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226107">
                    <a:moveTo>
                      <a:pt x="8966" y="0"/>
                    </a:moveTo>
                    <a:lnTo>
                      <a:pt x="1217141" y="0"/>
                    </a:lnTo>
                    <a:cubicBezTo>
                      <a:pt x="1219519" y="0"/>
                      <a:pt x="1221799" y="945"/>
                      <a:pt x="1223481" y="2626"/>
                    </a:cubicBezTo>
                    <a:cubicBezTo>
                      <a:pt x="1225162" y="4308"/>
                      <a:pt x="1226107" y="6588"/>
                      <a:pt x="1226107" y="8966"/>
                    </a:cubicBezTo>
                    <a:lnTo>
                      <a:pt x="1226107" y="803834"/>
                    </a:lnTo>
                    <a:cubicBezTo>
                      <a:pt x="1226107" y="808786"/>
                      <a:pt x="1222093" y="812800"/>
                      <a:pt x="1217141" y="812800"/>
                    </a:cubicBezTo>
                    <a:lnTo>
                      <a:pt x="8966" y="812800"/>
                    </a:lnTo>
                    <a:cubicBezTo>
                      <a:pt x="6588" y="812800"/>
                      <a:pt x="4308" y="811855"/>
                      <a:pt x="2626" y="810174"/>
                    </a:cubicBezTo>
                    <a:cubicBezTo>
                      <a:pt x="945" y="808492"/>
                      <a:pt x="0" y="806212"/>
                      <a:pt x="0" y="803834"/>
                    </a:cubicBezTo>
                    <a:lnTo>
                      <a:pt x="0" y="8966"/>
                    </a:lnTo>
                    <a:cubicBezTo>
                      <a:pt x="0" y="6588"/>
                      <a:pt x="945" y="4308"/>
                      <a:pt x="2626" y="2626"/>
                    </a:cubicBezTo>
                    <a:cubicBezTo>
                      <a:pt x="4308" y="945"/>
                      <a:pt x="6588" y="0"/>
                      <a:pt x="8966" y="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-1521" t="0" r="-16471" b="0"/>
                </a:stretch>
              </a:blipFill>
              <a:ln w="142875" cap="sq">
                <a:solidFill>
                  <a:srgbClr val="000000"/>
                </a:solidFill>
                <a:prstDash val="solid"/>
                <a:miter/>
              </a:ln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21214080" y="0"/>
              <a:ext cx="1828800" cy="1828800"/>
              <a:chOff x="0" y="0"/>
              <a:chExt cx="1828800" cy="1828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828800" cy="1828800"/>
              </a:xfrm>
              <a:custGeom>
                <a:avLst/>
                <a:gdLst/>
                <a:ahLst/>
                <a:cxnLst/>
                <a:rect r="r" b="b" t="t" l="l"/>
                <a:pathLst>
                  <a:path h="1828800" w="1828800">
                    <a:moveTo>
                      <a:pt x="0" y="0"/>
                    </a:moveTo>
                    <a:lnTo>
                      <a:pt x="1828800" y="0"/>
                    </a:lnTo>
                    <a:lnTo>
                      <a:pt x="1828800" y="1828800"/>
                    </a:lnTo>
                    <a:lnTo>
                      <a:pt x="0" y="18288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l="-5236" t="0" r="-4581" b="-9818"/>
                </a:stretch>
              </a:blipFill>
            </p:spPr>
          </p:sp>
        </p:grpSp>
        <p:sp>
          <p:nvSpPr>
            <p:cNvPr name="TextBox 21" id="21"/>
            <p:cNvSpPr txBox="true"/>
            <p:nvPr/>
          </p:nvSpPr>
          <p:spPr>
            <a:xfrm rot="0">
              <a:off x="7886305" y="11531943"/>
              <a:ext cx="14394575" cy="749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b="true" sz="18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Filterable &amp; sortable table: customerID, ChurnProbability, ChurnRisk, Contract, InternetService, MonthlyCharges, OfferTitle. CSV export.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335280" y="11367392"/>
              <a:ext cx="6554614" cy="1104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Compar</a:t>
              </a:r>
              <a:r>
                <a:rPr lang="en-US" b="true" sz="18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ison table (Accuracy, Precision, Recall, F1, ROC-AUC), confusion matrix heatmap, feature importance chart, ROC-AUC bar chart.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9689087"/>
            <a:ext cx="18313403" cy="610619"/>
            <a:chOff x="0" y="0"/>
            <a:chExt cx="24417871" cy="8141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814197"/>
            </a:xfrm>
            <a:custGeom>
              <a:avLst/>
              <a:gdLst/>
              <a:ahLst/>
              <a:cxnLst/>
              <a:rect r="r" b="b" t="t" l="l"/>
              <a:pathLst>
                <a:path h="81419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00B0F0"/>
            </a:solidFill>
            <a:ln w="25400" cap="sq">
              <a:solidFill>
                <a:srgbClr val="00B0F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365760" y="9701784"/>
            <a:ext cx="17556480" cy="585216"/>
            <a:chOff x="0" y="0"/>
            <a:chExt cx="23408640" cy="7802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408639" cy="780288"/>
            </a:xfrm>
            <a:custGeom>
              <a:avLst/>
              <a:gdLst/>
              <a:ahLst/>
              <a:cxnLst/>
              <a:rect r="r" b="b" t="t" l="l"/>
              <a:pathLst>
                <a:path h="78028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3408640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Design and Implementation of a Scalable Telecom Customer Churn Prediction and Retention Platform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31520" y="182880"/>
            <a:ext cx="15270480" cy="1005840"/>
            <a:chOff x="0" y="0"/>
            <a:chExt cx="20360640" cy="13411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3606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0360639">
                  <a:moveTo>
                    <a:pt x="0" y="0"/>
                  </a:moveTo>
                  <a:lnTo>
                    <a:pt x="20360639" y="0"/>
                  </a:lnTo>
                  <a:lnTo>
                    <a:pt x="203606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818" r="0" b="-24581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85725"/>
              <a:ext cx="20360640" cy="1426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Test Cases — Unit Test Plan (ETL Pipeline)</a:t>
              </a:r>
            </a:p>
          </p:txBody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548640" y="1316736"/>
          <a:ext cx="17170400" cy="8382000"/>
        </p:xfrm>
        <a:graphic>
          <a:graphicData uri="http://schemas.openxmlformats.org/drawingml/2006/table">
            <a:tbl>
              <a:tblPr/>
              <a:tblGrid>
                <a:gridCol w="1568741"/>
                <a:gridCol w="4564986"/>
                <a:gridCol w="5200553"/>
                <a:gridCol w="5836120"/>
              </a:tblGrid>
              <a:tr h="558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Test ID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Test Case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Input / Condition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Expected Result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TC-E01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Validate columns — pass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All required columns present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 exception raised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TC-E02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Validate columns — fail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Missing column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ValueError raised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TC-E03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Dataset shape correct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Sample DataFrame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shape[1] == 21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TC-E04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CustomerID unique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Sample DataFrame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Unique IDs only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TC-E05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Dataset not empty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Loaded DataFrame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len(df) &gt; 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TC-C01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TotalCharges numeric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Cleaned DataFrame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dtype == float64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TC-C02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 null TotalCharges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Raw blank values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 nulls remain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TC-C03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 duplicate rows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Cleaned DataFrame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 duplicates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TC-C04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Strings stripped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Object columns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 extra spaces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TC-T01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Churn binary encoded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Transformed DataFrame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Values in {0,1}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TC-T02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Contract preserved after OHE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After encoding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Column exists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TC-T03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InternetService preserved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After encoding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Column exists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TC-F01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AnnualRevenue calculation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Featured DataFrame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Monthly × 12 correct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TC-F02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LoyaltyScore range valid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Featured DataFrame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 ≤ score ≤ 1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</a:tbl>
          </a:graphicData>
        </a:graphic>
      </p:graphicFrame>
      <p:grpSp>
        <p:nvGrpSpPr>
          <p:cNvPr name="Group 11" id="11"/>
          <p:cNvGrpSpPr/>
          <p:nvPr/>
        </p:nvGrpSpPr>
        <p:grpSpPr>
          <a:xfrm rot="0">
            <a:off x="16459200" y="182880"/>
            <a:ext cx="1371600" cy="1408176"/>
            <a:chOff x="0" y="0"/>
            <a:chExt cx="1828800" cy="18775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28800" cy="1877568"/>
            </a:xfrm>
            <a:custGeom>
              <a:avLst/>
              <a:gdLst/>
              <a:ahLst/>
              <a:cxnLst/>
              <a:rect r="r" b="b" t="t" l="l"/>
              <a:pathLst>
                <a:path h="187756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77568"/>
                  </a:lnTo>
                  <a:lnTo>
                    <a:pt x="0" y="1877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0629" t="-15369" r="-14905" b="-16644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9689087"/>
            <a:ext cx="18313403" cy="610619"/>
            <a:chOff x="0" y="0"/>
            <a:chExt cx="24417871" cy="8141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814197"/>
            </a:xfrm>
            <a:custGeom>
              <a:avLst/>
              <a:gdLst/>
              <a:ahLst/>
              <a:cxnLst/>
              <a:rect r="r" b="b" t="t" l="l"/>
              <a:pathLst>
                <a:path h="81419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00B0F0"/>
            </a:solidFill>
            <a:ln w="25400" cap="sq">
              <a:solidFill>
                <a:srgbClr val="00B0F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365760" y="9701784"/>
            <a:ext cx="17556480" cy="585216"/>
            <a:chOff x="0" y="0"/>
            <a:chExt cx="23408640" cy="7802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408639" cy="780288"/>
            </a:xfrm>
            <a:custGeom>
              <a:avLst/>
              <a:gdLst/>
              <a:ahLst/>
              <a:cxnLst/>
              <a:rect r="r" b="b" t="t" l="l"/>
              <a:pathLst>
                <a:path h="78028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3408640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Design and Implementation of a Scalable Telecom Customer Churn Prediction and Retention Platform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31520" y="182880"/>
            <a:ext cx="15270480" cy="1005840"/>
            <a:chOff x="0" y="0"/>
            <a:chExt cx="20360640" cy="13411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3606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0360639">
                  <a:moveTo>
                    <a:pt x="0" y="0"/>
                  </a:moveTo>
                  <a:lnTo>
                    <a:pt x="20360639" y="0"/>
                  </a:lnTo>
                  <a:lnTo>
                    <a:pt x="203606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818" r="0" b="-24581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85725"/>
              <a:ext cx="20360640" cy="1426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Test Cases — ML, Prediction, Auth &amp; Acceptance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48640" y="1316736"/>
            <a:ext cx="10607040" cy="585216"/>
            <a:chOff x="0" y="0"/>
            <a:chExt cx="14142720" cy="78028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142720" cy="780288"/>
            </a:xfrm>
            <a:custGeom>
              <a:avLst/>
              <a:gdLst/>
              <a:ahLst/>
              <a:cxnLst/>
              <a:rect r="r" b="b" t="t" l="l"/>
              <a:pathLst>
                <a:path h="780288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3166" r="0" b="-30316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41427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Unit Tests — ML, Prediction &amp; Auth Modules</a:t>
              </a:r>
            </a:p>
          </p:txBody>
        </p:sp>
      </p:grp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548640" y="1920240"/>
          <a:ext cx="10210800" cy="5486400"/>
        </p:xfrm>
        <a:graphic>
          <a:graphicData uri="http://schemas.openxmlformats.org/drawingml/2006/table">
            <a:tbl>
              <a:tblPr/>
              <a:tblGrid>
                <a:gridCol w="1654039"/>
                <a:gridCol w="5002337"/>
                <a:gridCol w="3554424"/>
              </a:tblGrid>
              <a:tr h="6096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Test ID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Test Case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Expected Result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TC-P01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Predict returns dictionary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Valid keys returned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TC-P02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Probability range valid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0.0 ≤ p ≤ 1.0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TC-R01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High-risk contract offer generated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Offer assigned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TC-R02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Retention call for very high-risk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RETENTION_CALL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TC-R03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Offer fields present in output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Required fields exist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TC-A01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Password hash verify — correct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Verification succeeds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TC-A02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Wrong password fails verification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Verification fails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TC-A03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Add/delete user flow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User added then removed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</a:tbl>
          </a:graphicData>
        </a:graphic>
      </p:graphicFrame>
      <p:grpSp>
        <p:nvGrpSpPr>
          <p:cNvPr name="Group 14" id="14"/>
          <p:cNvGrpSpPr/>
          <p:nvPr/>
        </p:nvGrpSpPr>
        <p:grpSpPr>
          <a:xfrm rot="0">
            <a:off x="11155680" y="1316736"/>
            <a:ext cx="6583680" cy="585216"/>
            <a:chOff x="0" y="0"/>
            <a:chExt cx="8778240" cy="7802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778240" cy="780288"/>
            </a:xfrm>
            <a:custGeom>
              <a:avLst/>
              <a:gdLst/>
              <a:ahLst/>
              <a:cxnLst/>
              <a:rect r="r" b="b" t="t" l="l"/>
              <a:pathLst>
                <a:path h="780288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877824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Acceptance Test Results</a:t>
              </a:r>
            </a:p>
          </p:txBody>
        </p:sp>
      </p:grpSp>
      <p:graphicFrame>
        <p:nvGraphicFramePr>
          <p:cNvPr name="Table 17" id="17"/>
          <p:cNvGraphicFramePr>
            <a:graphicFrameLocks noGrp="true"/>
          </p:cNvGraphicFramePr>
          <p:nvPr/>
        </p:nvGraphicFramePr>
        <p:xfrm>
          <a:off x="11155680" y="1920240"/>
          <a:ext cx="6553200" cy="6705600"/>
        </p:xfrm>
        <a:graphic>
          <a:graphicData uri="http://schemas.openxmlformats.org/drawingml/2006/table">
            <a:tbl>
              <a:tblPr/>
              <a:tblGrid>
                <a:gridCol w="1194672"/>
                <a:gridCol w="3624005"/>
                <a:gridCol w="1734524"/>
              </a:tblGrid>
              <a:tr h="6096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AT ID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Scenario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Result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AT-01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Login with valid credentials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E7D22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 Pass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AT-02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Wrong password — access denied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E7D22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 Pass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AT-03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Run ETL pipeline — CSV generated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E7D22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 Pass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AT-04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Dashboard loads — KPIs shown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E7D22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 Pass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AT-05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High-risk prediction → offer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E7D22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 Pass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AT-06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Filter high-risk users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E7D22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 Pass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AT-07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CSV export download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E7D22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 Pass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AT-08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Admin adds new user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E7D22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 Pass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AT-09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Role restriction enforced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E7D22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 Pass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AT-10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Access log timestamps recorded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E7D22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 Pass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</a:tbl>
          </a:graphicData>
        </a:graphic>
      </p:graphicFrame>
      <p:grpSp>
        <p:nvGrpSpPr>
          <p:cNvPr name="Group 18" id="18"/>
          <p:cNvGrpSpPr/>
          <p:nvPr/>
        </p:nvGrpSpPr>
        <p:grpSpPr>
          <a:xfrm rot="0">
            <a:off x="16459200" y="182880"/>
            <a:ext cx="1371600" cy="1408176"/>
            <a:chOff x="0" y="0"/>
            <a:chExt cx="1828800" cy="187756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28800" cy="1877568"/>
            </a:xfrm>
            <a:custGeom>
              <a:avLst/>
              <a:gdLst/>
              <a:ahLst/>
              <a:cxnLst/>
              <a:rect r="r" b="b" t="t" l="l"/>
              <a:pathLst>
                <a:path h="187756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77568"/>
                  </a:lnTo>
                  <a:lnTo>
                    <a:pt x="0" y="1877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0629" t="-15369" r="-14905" b="-16644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9689087"/>
            <a:ext cx="18313403" cy="610619"/>
            <a:chOff x="0" y="0"/>
            <a:chExt cx="24417871" cy="8141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814197"/>
            </a:xfrm>
            <a:custGeom>
              <a:avLst/>
              <a:gdLst/>
              <a:ahLst/>
              <a:cxnLst/>
              <a:rect r="r" b="b" t="t" l="l"/>
              <a:pathLst>
                <a:path h="81419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00B0F0"/>
            </a:solidFill>
            <a:ln w="25400" cap="sq">
              <a:solidFill>
                <a:srgbClr val="00B0F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365760" y="9701784"/>
            <a:ext cx="17556480" cy="585216"/>
            <a:chOff x="0" y="0"/>
            <a:chExt cx="23408640" cy="7802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408639" cy="780288"/>
            </a:xfrm>
            <a:custGeom>
              <a:avLst/>
              <a:gdLst/>
              <a:ahLst/>
              <a:cxnLst/>
              <a:rect r="r" b="b" t="t" l="l"/>
              <a:pathLst>
                <a:path h="78028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3408640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Design and Implementation of a Scalable Telecom Customer Churn Prediction and Retention Platform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31520" y="182880"/>
            <a:ext cx="15270480" cy="1005840"/>
            <a:chOff x="0" y="0"/>
            <a:chExt cx="20360640" cy="13411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3606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0360639">
                  <a:moveTo>
                    <a:pt x="0" y="0"/>
                  </a:moveTo>
                  <a:lnTo>
                    <a:pt x="20360639" y="0"/>
                  </a:lnTo>
                  <a:lnTo>
                    <a:pt x="203606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818" r="0" b="-24581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85725"/>
              <a:ext cx="20360640" cy="1426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Test Results Summary</a:t>
              </a:r>
            </a:p>
          </p:txBody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2194560" y="1316736"/>
          <a:ext cx="13843000" cy="7543800"/>
        </p:xfrm>
        <a:graphic>
          <a:graphicData uri="http://schemas.openxmlformats.org/drawingml/2006/table">
            <a:tbl>
              <a:tblPr/>
              <a:tblGrid>
                <a:gridCol w="5439933"/>
                <a:gridCol w="2371510"/>
                <a:gridCol w="2191014"/>
                <a:gridCol w="2100767"/>
                <a:gridCol w="1739776"/>
              </a:tblGrid>
              <a:tr h="685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Test Class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Total Tests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Passed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Skipped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Failed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TestExtract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E7D22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TestCleaning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E7D22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6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TestTransform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E7D22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TestFeatureEngineering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7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E7D22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7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TestValidation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E7D22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3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TestPredict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E7D22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3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TestRecommend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7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E7D22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7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TestAuth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E7D22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4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TestConfig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E7D22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3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TOTAL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48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48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2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</a:tbl>
          </a:graphicData>
        </a:graphic>
      </p:graphicFrame>
      <p:grpSp>
        <p:nvGrpSpPr>
          <p:cNvPr name="Group 11" id="11"/>
          <p:cNvGrpSpPr/>
          <p:nvPr/>
        </p:nvGrpSpPr>
        <p:grpSpPr>
          <a:xfrm rot="0">
            <a:off x="2194560" y="8874252"/>
            <a:ext cx="13898880" cy="768096"/>
            <a:chOff x="0" y="0"/>
            <a:chExt cx="18531840" cy="10241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531839" cy="1024128"/>
            </a:xfrm>
            <a:custGeom>
              <a:avLst/>
              <a:gdLst/>
              <a:ahLst/>
              <a:cxnLst/>
              <a:rect r="r" b="b" t="t" l="l"/>
              <a:pathLst>
                <a:path h="1024128" w="18531839">
                  <a:moveTo>
                    <a:pt x="0" y="0"/>
                  </a:moveTo>
                  <a:lnTo>
                    <a:pt x="18531839" y="0"/>
                  </a:lnTo>
                  <a:lnTo>
                    <a:pt x="18531839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2586" r="0" b="-30258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853184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1E7D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🎯  100% Pass Rate — All 48 unit tests passed across 9 test classes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459200" y="182880"/>
            <a:ext cx="1371600" cy="1408176"/>
            <a:chOff x="0" y="0"/>
            <a:chExt cx="1828800" cy="187756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28800" cy="1877568"/>
            </a:xfrm>
            <a:custGeom>
              <a:avLst/>
              <a:gdLst/>
              <a:ahLst/>
              <a:cxnLst/>
              <a:rect r="r" b="b" t="t" l="l"/>
              <a:pathLst>
                <a:path h="187756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77568"/>
                  </a:lnTo>
                  <a:lnTo>
                    <a:pt x="0" y="1877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0629" t="-15369" r="-14905" b="-16644"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9689087"/>
            <a:ext cx="18313403" cy="610619"/>
            <a:chOff x="0" y="0"/>
            <a:chExt cx="24417871" cy="8141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814197"/>
            </a:xfrm>
            <a:custGeom>
              <a:avLst/>
              <a:gdLst/>
              <a:ahLst/>
              <a:cxnLst/>
              <a:rect r="r" b="b" t="t" l="l"/>
              <a:pathLst>
                <a:path h="81419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00B0F0"/>
            </a:solidFill>
            <a:ln w="25400" cap="sq">
              <a:solidFill>
                <a:srgbClr val="00B0F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365760" y="9701784"/>
            <a:ext cx="17556480" cy="585216"/>
            <a:chOff x="0" y="0"/>
            <a:chExt cx="23408640" cy="7802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408639" cy="780288"/>
            </a:xfrm>
            <a:custGeom>
              <a:avLst/>
              <a:gdLst/>
              <a:ahLst/>
              <a:cxnLst/>
              <a:rect r="r" b="b" t="t" l="l"/>
              <a:pathLst>
                <a:path h="78028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3408640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Design and Implementation of a Scalable Telecom Customer Churn Prediction and Retention Platform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31520" y="182880"/>
            <a:ext cx="15270480" cy="1005840"/>
            <a:chOff x="0" y="0"/>
            <a:chExt cx="20360640" cy="13411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3606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0360639">
                  <a:moveTo>
                    <a:pt x="0" y="0"/>
                  </a:moveTo>
                  <a:lnTo>
                    <a:pt x="20360639" y="0"/>
                  </a:lnTo>
                  <a:lnTo>
                    <a:pt x="203606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818" r="0" b="-24581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85725"/>
              <a:ext cx="20360640" cy="1426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Limitations of the System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48640" y="1371600"/>
            <a:ext cx="17190720" cy="1152144"/>
            <a:chOff x="0" y="0"/>
            <a:chExt cx="22920960" cy="153619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920959" cy="1536192"/>
            </a:xfrm>
            <a:custGeom>
              <a:avLst/>
              <a:gdLst/>
              <a:ahLst/>
              <a:cxnLst/>
              <a:rect r="r" b="b" t="t" l="l"/>
              <a:pathLst>
                <a:path h="1536192" w="22920959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22799039" y="0"/>
                  </a:lnTo>
                  <a:cubicBezTo>
                    <a:pt x="22866350" y="0"/>
                    <a:pt x="22920959" y="54610"/>
                    <a:pt x="22920959" y="121920"/>
                  </a:cubicBezTo>
                  <a:lnTo>
                    <a:pt x="22920959" y="1414272"/>
                  </a:lnTo>
                  <a:cubicBezTo>
                    <a:pt x="22920959" y="1481582"/>
                    <a:pt x="22866350" y="1536192"/>
                    <a:pt x="22799039" y="1536192"/>
                  </a:cubicBezTo>
                  <a:lnTo>
                    <a:pt x="121920" y="1536192"/>
                  </a:lnTo>
                  <a:cubicBezTo>
                    <a:pt x="54610" y="1536192"/>
                    <a:pt x="0" y="1481582"/>
                    <a:pt x="0" y="1414272"/>
                  </a:cubicBezTo>
                  <a:close/>
                </a:path>
              </a:pathLst>
            </a:custGeom>
            <a:solidFill>
              <a:srgbClr val="FFF3F3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22960" y="1371600"/>
            <a:ext cx="16642080" cy="1152144"/>
            <a:chOff x="0" y="0"/>
            <a:chExt cx="22189440" cy="153619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189439" cy="1536192"/>
            </a:xfrm>
            <a:custGeom>
              <a:avLst/>
              <a:gdLst/>
              <a:ahLst/>
              <a:cxnLst/>
              <a:rect r="r" b="b" t="t" l="l"/>
              <a:pathLst>
                <a:path h="153619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536192"/>
                  </a:lnTo>
                  <a:lnTo>
                    <a:pt x="0" y="15361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450" r="0" b="-23145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22189440" cy="15838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C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Dataset Scope: </a:t>
              </a:r>
              <a:r>
                <a:rPr lang="en-US" sz="23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Uses IBM Telco sample (7,043 records) — may not represent all telecom segments, regional billing patterns, or enterprise-scale data volumes.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48640" y="2670048"/>
            <a:ext cx="17190720" cy="1152144"/>
            <a:chOff x="0" y="0"/>
            <a:chExt cx="22920960" cy="153619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920959" cy="1536192"/>
            </a:xfrm>
            <a:custGeom>
              <a:avLst/>
              <a:gdLst/>
              <a:ahLst/>
              <a:cxnLst/>
              <a:rect r="r" b="b" t="t" l="l"/>
              <a:pathLst>
                <a:path h="1536192" w="22920959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22799039" y="0"/>
                  </a:lnTo>
                  <a:cubicBezTo>
                    <a:pt x="22866350" y="0"/>
                    <a:pt x="22920959" y="54610"/>
                    <a:pt x="22920959" y="121920"/>
                  </a:cubicBezTo>
                  <a:lnTo>
                    <a:pt x="22920959" y="1414272"/>
                  </a:lnTo>
                  <a:cubicBezTo>
                    <a:pt x="22920959" y="1481582"/>
                    <a:pt x="22866350" y="1536192"/>
                    <a:pt x="22799039" y="1536192"/>
                  </a:cubicBezTo>
                  <a:lnTo>
                    <a:pt x="121920" y="1536192"/>
                  </a:lnTo>
                  <a:cubicBezTo>
                    <a:pt x="54610" y="1536192"/>
                    <a:pt x="0" y="1481582"/>
                    <a:pt x="0" y="1414272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22960" y="2670048"/>
            <a:ext cx="16642080" cy="1152144"/>
            <a:chOff x="0" y="0"/>
            <a:chExt cx="22189440" cy="15361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189439" cy="1536192"/>
            </a:xfrm>
            <a:custGeom>
              <a:avLst/>
              <a:gdLst/>
              <a:ahLst/>
              <a:cxnLst/>
              <a:rect r="r" b="b" t="t" l="l"/>
              <a:pathLst>
                <a:path h="153619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536192"/>
                  </a:lnTo>
                  <a:lnTo>
                    <a:pt x="0" y="15361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450" r="0" b="-23145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22189440" cy="15838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C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Rule-Based Offers: </a:t>
              </a:r>
              <a:r>
                <a:rPr lang="en-US" sz="23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Retention offer engine uses rule-based logic. Collaborative filtering or reinforcement learning would generate more granular, personalised recommendations.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48640" y="3968496"/>
            <a:ext cx="17190720" cy="1152144"/>
            <a:chOff x="0" y="0"/>
            <a:chExt cx="22920960" cy="15361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920959" cy="1536192"/>
            </a:xfrm>
            <a:custGeom>
              <a:avLst/>
              <a:gdLst/>
              <a:ahLst/>
              <a:cxnLst/>
              <a:rect r="r" b="b" t="t" l="l"/>
              <a:pathLst>
                <a:path h="1536192" w="22920959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22799039" y="0"/>
                  </a:lnTo>
                  <a:cubicBezTo>
                    <a:pt x="22866350" y="0"/>
                    <a:pt x="22920959" y="54610"/>
                    <a:pt x="22920959" y="121920"/>
                  </a:cubicBezTo>
                  <a:lnTo>
                    <a:pt x="22920959" y="1414272"/>
                  </a:lnTo>
                  <a:cubicBezTo>
                    <a:pt x="22920959" y="1481582"/>
                    <a:pt x="22866350" y="1536192"/>
                    <a:pt x="22799039" y="1536192"/>
                  </a:cubicBezTo>
                  <a:lnTo>
                    <a:pt x="121920" y="1536192"/>
                  </a:lnTo>
                  <a:cubicBezTo>
                    <a:pt x="54610" y="1536192"/>
                    <a:pt x="0" y="1481582"/>
                    <a:pt x="0" y="1414272"/>
                  </a:cubicBezTo>
                  <a:close/>
                </a:path>
              </a:pathLst>
            </a:custGeom>
            <a:solidFill>
              <a:srgbClr val="FFF3F3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22960" y="3968496"/>
            <a:ext cx="16642080" cy="1152144"/>
            <a:chOff x="0" y="0"/>
            <a:chExt cx="22189440" cy="153619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189439" cy="1536192"/>
            </a:xfrm>
            <a:custGeom>
              <a:avLst/>
              <a:gdLst/>
              <a:ahLst/>
              <a:cxnLst/>
              <a:rect r="r" b="b" t="t" l="l"/>
              <a:pathLst>
                <a:path h="153619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536192"/>
                  </a:lnTo>
                  <a:lnTo>
                    <a:pt x="0" y="15361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450" r="0" b="-23145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22189440" cy="15838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C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Credential Storage: </a:t>
              </a:r>
              <a:r>
                <a:rPr lang="en-US" sz="23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User credentials stored in a flat users.json file. A dedicated PostgreSQL users table would be more robust and auditable at enterprise scale.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48640" y="5266944"/>
            <a:ext cx="17190720" cy="1152144"/>
            <a:chOff x="0" y="0"/>
            <a:chExt cx="22920960" cy="153619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920959" cy="1536192"/>
            </a:xfrm>
            <a:custGeom>
              <a:avLst/>
              <a:gdLst/>
              <a:ahLst/>
              <a:cxnLst/>
              <a:rect r="r" b="b" t="t" l="l"/>
              <a:pathLst>
                <a:path h="1536192" w="22920959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22799039" y="0"/>
                  </a:lnTo>
                  <a:cubicBezTo>
                    <a:pt x="22866350" y="0"/>
                    <a:pt x="22920959" y="54610"/>
                    <a:pt x="22920959" y="121920"/>
                  </a:cubicBezTo>
                  <a:lnTo>
                    <a:pt x="22920959" y="1414272"/>
                  </a:lnTo>
                  <a:cubicBezTo>
                    <a:pt x="22920959" y="1481582"/>
                    <a:pt x="22866350" y="1536192"/>
                    <a:pt x="22799039" y="1536192"/>
                  </a:cubicBezTo>
                  <a:lnTo>
                    <a:pt x="121920" y="1536192"/>
                  </a:lnTo>
                  <a:cubicBezTo>
                    <a:pt x="54610" y="1536192"/>
                    <a:pt x="0" y="1481582"/>
                    <a:pt x="0" y="1414272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5266944"/>
            <a:ext cx="16642080" cy="1152144"/>
            <a:chOff x="0" y="0"/>
            <a:chExt cx="22189440" cy="153619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189439" cy="1536192"/>
            </a:xfrm>
            <a:custGeom>
              <a:avLst/>
              <a:gdLst/>
              <a:ahLst/>
              <a:cxnLst/>
              <a:rect r="r" b="b" t="t" l="l"/>
              <a:pathLst>
                <a:path h="153619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536192"/>
                  </a:lnTo>
                  <a:lnTo>
                    <a:pt x="0" y="15361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450" r="0" b="-23145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22189440" cy="15838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C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 Real-Time Ingestion: </a:t>
              </a:r>
              <a:r>
                <a:rPr lang="en-US" sz="23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Streamlit dashboard does not support real-time data ingestion. The ETL pipeline must be re-run manually to refresh customer scores.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48640" y="6565392"/>
            <a:ext cx="17190720" cy="1152144"/>
            <a:chOff x="0" y="0"/>
            <a:chExt cx="22920960" cy="153619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2920959" cy="1536192"/>
            </a:xfrm>
            <a:custGeom>
              <a:avLst/>
              <a:gdLst/>
              <a:ahLst/>
              <a:cxnLst/>
              <a:rect r="r" b="b" t="t" l="l"/>
              <a:pathLst>
                <a:path h="1536192" w="22920959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22799039" y="0"/>
                  </a:lnTo>
                  <a:cubicBezTo>
                    <a:pt x="22866350" y="0"/>
                    <a:pt x="22920959" y="54610"/>
                    <a:pt x="22920959" y="121920"/>
                  </a:cubicBezTo>
                  <a:lnTo>
                    <a:pt x="22920959" y="1414272"/>
                  </a:lnTo>
                  <a:cubicBezTo>
                    <a:pt x="22920959" y="1481582"/>
                    <a:pt x="22866350" y="1536192"/>
                    <a:pt x="22799039" y="1536192"/>
                  </a:cubicBezTo>
                  <a:lnTo>
                    <a:pt x="121920" y="1536192"/>
                  </a:lnTo>
                  <a:cubicBezTo>
                    <a:pt x="54610" y="1536192"/>
                    <a:pt x="0" y="1481582"/>
                    <a:pt x="0" y="1414272"/>
                  </a:cubicBezTo>
                  <a:close/>
                </a:path>
              </a:pathLst>
            </a:custGeom>
            <a:solidFill>
              <a:srgbClr val="FFF3F3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822960" y="6565392"/>
            <a:ext cx="16642080" cy="1152144"/>
            <a:chOff x="0" y="0"/>
            <a:chExt cx="22189440" cy="153619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189439" cy="1536192"/>
            </a:xfrm>
            <a:custGeom>
              <a:avLst/>
              <a:gdLst/>
              <a:ahLst/>
              <a:cxnLst/>
              <a:rect r="r" b="b" t="t" l="l"/>
              <a:pathLst>
                <a:path h="153619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536192"/>
                  </a:lnTo>
                  <a:lnTo>
                    <a:pt x="0" y="15361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450" r="0" b="-23145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22189440" cy="15838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C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PySpark in Local Mode: </a:t>
              </a:r>
              <a:r>
                <a:rPr lang="en-US" sz="23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PySpark runs in local mode. A distributed cluster deployment (AWS EMR, Databricks, or Azure HDInsight) is required for true enterprise scalability.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48640" y="7863840"/>
            <a:ext cx="17190720" cy="1152144"/>
            <a:chOff x="0" y="0"/>
            <a:chExt cx="22920960" cy="153619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2920959" cy="1536192"/>
            </a:xfrm>
            <a:custGeom>
              <a:avLst/>
              <a:gdLst/>
              <a:ahLst/>
              <a:cxnLst/>
              <a:rect r="r" b="b" t="t" l="l"/>
              <a:pathLst>
                <a:path h="1536192" w="22920959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22799039" y="0"/>
                  </a:lnTo>
                  <a:cubicBezTo>
                    <a:pt x="22866350" y="0"/>
                    <a:pt x="22920959" y="54610"/>
                    <a:pt x="22920959" y="121920"/>
                  </a:cubicBezTo>
                  <a:lnTo>
                    <a:pt x="22920959" y="1414272"/>
                  </a:lnTo>
                  <a:cubicBezTo>
                    <a:pt x="22920959" y="1481582"/>
                    <a:pt x="22866350" y="1536192"/>
                    <a:pt x="22799039" y="1536192"/>
                  </a:cubicBezTo>
                  <a:lnTo>
                    <a:pt x="121920" y="1536192"/>
                  </a:lnTo>
                  <a:cubicBezTo>
                    <a:pt x="54610" y="1536192"/>
                    <a:pt x="0" y="1481582"/>
                    <a:pt x="0" y="1414272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822960" y="7863840"/>
            <a:ext cx="16642080" cy="1152144"/>
            <a:chOff x="0" y="0"/>
            <a:chExt cx="22189440" cy="153619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2189439" cy="1536192"/>
            </a:xfrm>
            <a:custGeom>
              <a:avLst/>
              <a:gdLst/>
              <a:ahLst/>
              <a:cxnLst/>
              <a:rect r="r" b="b" t="t" l="l"/>
              <a:pathLst>
                <a:path h="153619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536192"/>
                  </a:lnTo>
                  <a:lnTo>
                    <a:pt x="0" y="15361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450" r="0" b="-23145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22189440" cy="15838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C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 Notifications: </a:t>
              </a:r>
              <a:r>
                <a:rPr lang="en-US" sz="23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email or SMS notification capability to alert the retention team when a customer crosses the high-risk churn threshold.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6459200" y="182880"/>
            <a:ext cx="1371600" cy="1408176"/>
            <a:chOff x="0" y="0"/>
            <a:chExt cx="1828800" cy="187756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828800" cy="1877568"/>
            </a:xfrm>
            <a:custGeom>
              <a:avLst/>
              <a:gdLst/>
              <a:ahLst/>
              <a:cxnLst/>
              <a:rect r="r" b="b" t="t" l="l"/>
              <a:pathLst>
                <a:path h="187756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77568"/>
                  </a:lnTo>
                  <a:lnTo>
                    <a:pt x="0" y="1877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0629" t="-15369" r="-14905" b="-16644"/>
              </a:stretch>
            </a:blipFill>
          </p:spPr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9689087"/>
            <a:ext cx="18313403" cy="610619"/>
            <a:chOff x="0" y="0"/>
            <a:chExt cx="24417871" cy="8141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814197"/>
            </a:xfrm>
            <a:custGeom>
              <a:avLst/>
              <a:gdLst/>
              <a:ahLst/>
              <a:cxnLst/>
              <a:rect r="r" b="b" t="t" l="l"/>
              <a:pathLst>
                <a:path h="81419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00B0F0"/>
            </a:solidFill>
            <a:ln w="25400" cap="sq">
              <a:solidFill>
                <a:srgbClr val="00B0F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365760" y="9701784"/>
            <a:ext cx="17556480" cy="585216"/>
            <a:chOff x="0" y="0"/>
            <a:chExt cx="23408640" cy="7802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408639" cy="780288"/>
            </a:xfrm>
            <a:custGeom>
              <a:avLst/>
              <a:gdLst/>
              <a:ahLst/>
              <a:cxnLst/>
              <a:rect r="r" b="b" t="t" l="l"/>
              <a:pathLst>
                <a:path h="78028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3408640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Design and Implementation of a Scalable Telecom Customer Churn Prediction and Retention Platform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31520" y="182880"/>
            <a:ext cx="15270480" cy="1005840"/>
            <a:chOff x="0" y="0"/>
            <a:chExt cx="20360640" cy="13411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3606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0360639">
                  <a:moveTo>
                    <a:pt x="0" y="0"/>
                  </a:moveTo>
                  <a:lnTo>
                    <a:pt x="20360639" y="0"/>
                  </a:lnTo>
                  <a:lnTo>
                    <a:pt x="203606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818" r="0" b="-24581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85725"/>
              <a:ext cx="20360640" cy="1426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Future Enhancements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57200" y="1316736"/>
            <a:ext cx="4114800" cy="3474720"/>
            <a:chOff x="0" y="0"/>
            <a:chExt cx="5486400" cy="46329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486400" cy="4632960"/>
            </a:xfrm>
            <a:custGeom>
              <a:avLst/>
              <a:gdLst/>
              <a:ahLst/>
              <a:cxnLst/>
              <a:rect r="r" b="b" t="t" l="l"/>
              <a:pathLst>
                <a:path h="4632960" w="548640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5291328" y="0"/>
                  </a:lnTo>
                  <a:cubicBezTo>
                    <a:pt x="5399024" y="0"/>
                    <a:pt x="5486400" y="87376"/>
                    <a:pt x="5486400" y="195072"/>
                  </a:cubicBezTo>
                  <a:lnTo>
                    <a:pt x="5486400" y="4437888"/>
                  </a:lnTo>
                  <a:cubicBezTo>
                    <a:pt x="5486400" y="4545584"/>
                    <a:pt x="5399024" y="4632960"/>
                    <a:pt x="5291328" y="4632960"/>
                  </a:cubicBezTo>
                  <a:lnTo>
                    <a:pt x="195072" y="4632960"/>
                  </a:lnTo>
                  <a:cubicBezTo>
                    <a:pt x="87376" y="4632960"/>
                    <a:pt x="0" y="4545584"/>
                    <a:pt x="0" y="4437888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57200" y="1463040"/>
            <a:ext cx="4114800" cy="731520"/>
            <a:chOff x="0" y="0"/>
            <a:chExt cx="5486400" cy="9753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86400" cy="975360"/>
            </a:xfrm>
            <a:custGeom>
              <a:avLst/>
              <a:gdLst/>
              <a:ahLst/>
              <a:cxnLst/>
              <a:rect r="r" b="b" t="t" l="l"/>
              <a:pathLst>
                <a:path h="97536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548640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57200" y="2194560"/>
            <a:ext cx="4114800" cy="585216"/>
            <a:chOff x="0" y="0"/>
            <a:chExt cx="5486400" cy="78028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486400" cy="780288"/>
            </a:xfrm>
            <a:custGeom>
              <a:avLst/>
              <a:gdLst/>
              <a:ahLst/>
              <a:cxnLst/>
              <a:rect r="r" b="b" t="t" l="l"/>
              <a:pathLst>
                <a:path h="780288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004" r="0" b="-8700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548640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Apache Airflow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731520" y="2823972"/>
            <a:ext cx="3566160" cy="1775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Automate ETL pipeline scheduling using DAGs for daily/weekly data refresh without manual intervention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4846320" y="1316736"/>
            <a:ext cx="4114800" cy="3474720"/>
            <a:chOff x="0" y="0"/>
            <a:chExt cx="5486400" cy="46329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486400" cy="4632960"/>
            </a:xfrm>
            <a:custGeom>
              <a:avLst/>
              <a:gdLst/>
              <a:ahLst/>
              <a:cxnLst/>
              <a:rect r="r" b="b" t="t" l="l"/>
              <a:pathLst>
                <a:path h="4632960" w="548640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5291328" y="0"/>
                  </a:lnTo>
                  <a:cubicBezTo>
                    <a:pt x="5399024" y="0"/>
                    <a:pt x="5486400" y="87376"/>
                    <a:pt x="5486400" y="195072"/>
                  </a:cubicBezTo>
                  <a:lnTo>
                    <a:pt x="5486400" y="4437888"/>
                  </a:lnTo>
                  <a:cubicBezTo>
                    <a:pt x="5486400" y="4545584"/>
                    <a:pt x="5399024" y="4632960"/>
                    <a:pt x="5291328" y="4632960"/>
                  </a:cubicBezTo>
                  <a:lnTo>
                    <a:pt x="195072" y="4632960"/>
                  </a:lnTo>
                  <a:cubicBezTo>
                    <a:pt x="87376" y="4632960"/>
                    <a:pt x="0" y="4545584"/>
                    <a:pt x="0" y="4437888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4846320" y="1463040"/>
            <a:ext cx="4114800" cy="731520"/>
            <a:chOff x="0" y="0"/>
            <a:chExt cx="5486400" cy="9753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486400" cy="975360"/>
            </a:xfrm>
            <a:custGeom>
              <a:avLst/>
              <a:gdLst/>
              <a:ahLst/>
              <a:cxnLst/>
              <a:rect r="r" b="b" t="t" l="l"/>
              <a:pathLst>
                <a:path h="97536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548640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846320" y="2194560"/>
            <a:ext cx="4114800" cy="585216"/>
            <a:chOff x="0" y="0"/>
            <a:chExt cx="5486400" cy="78028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486400" cy="780288"/>
            </a:xfrm>
            <a:custGeom>
              <a:avLst/>
              <a:gdLst/>
              <a:ahLst/>
              <a:cxnLst/>
              <a:rect r="r" b="b" t="t" l="l"/>
              <a:pathLst>
                <a:path h="780288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004" r="0" b="-87004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548640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Real-Time Streaming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5120640" y="2823972"/>
            <a:ext cx="3566160" cy="1775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Integrate Apache Kafka for real-time customer event ingestion and immediate churn risk recalculation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235440" y="1316736"/>
            <a:ext cx="4114800" cy="3474720"/>
            <a:chOff x="0" y="0"/>
            <a:chExt cx="5486400" cy="46329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486400" cy="4632960"/>
            </a:xfrm>
            <a:custGeom>
              <a:avLst/>
              <a:gdLst/>
              <a:ahLst/>
              <a:cxnLst/>
              <a:rect r="r" b="b" t="t" l="l"/>
              <a:pathLst>
                <a:path h="4632960" w="548640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5291328" y="0"/>
                  </a:lnTo>
                  <a:cubicBezTo>
                    <a:pt x="5399024" y="0"/>
                    <a:pt x="5486400" y="87376"/>
                    <a:pt x="5486400" y="195072"/>
                  </a:cubicBezTo>
                  <a:lnTo>
                    <a:pt x="5486400" y="4437888"/>
                  </a:lnTo>
                  <a:cubicBezTo>
                    <a:pt x="5486400" y="4545584"/>
                    <a:pt x="5399024" y="4632960"/>
                    <a:pt x="5291328" y="4632960"/>
                  </a:cubicBezTo>
                  <a:lnTo>
                    <a:pt x="195072" y="4632960"/>
                  </a:lnTo>
                  <a:cubicBezTo>
                    <a:pt x="87376" y="4632960"/>
                    <a:pt x="0" y="4545584"/>
                    <a:pt x="0" y="4437888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235440" y="1463040"/>
            <a:ext cx="4114800" cy="731520"/>
            <a:chOff x="0" y="0"/>
            <a:chExt cx="5486400" cy="9753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486400" cy="975360"/>
            </a:xfrm>
            <a:custGeom>
              <a:avLst/>
              <a:gdLst/>
              <a:ahLst/>
              <a:cxnLst/>
              <a:rect r="r" b="b" t="t" l="l"/>
              <a:pathLst>
                <a:path h="97536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66675"/>
              <a:ext cx="548640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235440" y="2194560"/>
            <a:ext cx="4114800" cy="585216"/>
            <a:chOff x="0" y="0"/>
            <a:chExt cx="5486400" cy="78028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486400" cy="780288"/>
            </a:xfrm>
            <a:custGeom>
              <a:avLst/>
              <a:gdLst/>
              <a:ahLst/>
              <a:cxnLst/>
              <a:rect r="r" b="b" t="t" l="l"/>
              <a:pathLst>
                <a:path h="780288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004" r="0" b="-87004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548640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Advanced ML Models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9509760" y="2823972"/>
            <a:ext cx="3566160" cy="1775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Implement neural networks (TensorFlow/PyTorch) and AutoML for improved prediction accuracy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3624560" y="1316736"/>
            <a:ext cx="4114800" cy="3474720"/>
            <a:chOff x="0" y="0"/>
            <a:chExt cx="5486400" cy="46329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486400" cy="4632960"/>
            </a:xfrm>
            <a:custGeom>
              <a:avLst/>
              <a:gdLst/>
              <a:ahLst/>
              <a:cxnLst/>
              <a:rect r="r" b="b" t="t" l="l"/>
              <a:pathLst>
                <a:path h="4632960" w="548640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5291328" y="0"/>
                  </a:lnTo>
                  <a:cubicBezTo>
                    <a:pt x="5399024" y="0"/>
                    <a:pt x="5486400" y="87376"/>
                    <a:pt x="5486400" y="195072"/>
                  </a:cubicBezTo>
                  <a:lnTo>
                    <a:pt x="5486400" y="4437888"/>
                  </a:lnTo>
                  <a:cubicBezTo>
                    <a:pt x="5486400" y="4545584"/>
                    <a:pt x="5399024" y="4632960"/>
                    <a:pt x="5291328" y="4632960"/>
                  </a:cubicBezTo>
                  <a:lnTo>
                    <a:pt x="195072" y="4632960"/>
                  </a:lnTo>
                  <a:cubicBezTo>
                    <a:pt x="87376" y="4632960"/>
                    <a:pt x="0" y="4545584"/>
                    <a:pt x="0" y="4437888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3624560" y="1463040"/>
            <a:ext cx="4114800" cy="731520"/>
            <a:chOff x="0" y="0"/>
            <a:chExt cx="5486400" cy="9753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486400" cy="975360"/>
            </a:xfrm>
            <a:custGeom>
              <a:avLst/>
              <a:gdLst/>
              <a:ahLst/>
              <a:cxnLst/>
              <a:rect r="r" b="b" t="t" l="l"/>
              <a:pathLst>
                <a:path h="97536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66675"/>
              <a:ext cx="548640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624560" y="2194560"/>
            <a:ext cx="4114800" cy="585216"/>
            <a:chOff x="0" y="0"/>
            <a:chExt cx="5486400" cy="78028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486400" cy="780288"/>
            </a:xfrm>
            <a:custGeom>
              <a:avLst/>
              <a:gdLst/>
              <a:ahLst/>
              <a:cxnLst/>
              <a:rect r="r" b="b" t="t" l="l"/>
              <a:pathLst>
                <a:path h="780288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004" r="0" b="-87004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548640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Cloud Deployment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3898880" y="2823972"/>
            <a:ext cx="3566160" cy="1775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Host on AWS (S3+RDS+EC2) or Azure (Blob Storage+Azure SQL+App Service) for production availability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457200" y="5065776"/>
            <a:ext cx="4114800" cy="3474720"/>
            <a:chOff x="0" y="0"/>
            <a:chExt cx="5486400" cy="46329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486400" cy="4632960"/>
            </a:xfrm>
            <a:custGeom>
              <a:avLst/>
              <a:gdLst/>
              <a:ahLst/>
              <a:cxnLst/>
              <a:rect r="r" b="b" t="t" l="l"/>
              <a:pathLst>
                <a:path h="4632960" w="548640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5291328" y="0"/>
                  </a:lnTo>
                  <a:cubicBezTo>
                    <a:pt x="5399024" y="0"/>
                    <a:pt x="5486400" y="87376"/>
                    <a:pt x="5486400" y="195072"/>
                  </a:cubicBezTo>
                  <a:lnTo>
                    <a:pt x="5486400" y="4437888"/>
                  </a:lnTo>
                  <a:cubicBezTo>
                    <a:pt x="5486400" y="4545584"/>
                    <a:pt x="5399024" y="4632960"/>
                    <a:pt x="5291328" y="4632960"/>
                  </a:cubicBezTo>
                  <a:lnTo>
                    <a:pt x="195072" y="4632960"/>
                  </a:lnTo>
                  <a:cubicBezTo>
                    <a:pt x="87376" y="4632960"/>
                    <a:pt x="0" y="4545584"/>
                    <a:pt x="0" y="4437888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457200" y="5212080"/>
            <a:ext cx="4114800" cy="731520"/>
            <a:chOff x="0" y="0"/>
            <a:chExt cx="5486400" cy="97536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486400" cy="975360"/>
            </a:xfrm>
            <a:custGeom>
              <a:avLst/>
              <a:gdLst/>
              <a:ahLst/>
              <a:cxnLst/>
              <a:rect r="r" b="b" t="t" l="l"/>
              <a:pathLst>
                <a:path h="97536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66675"/>
              <a:ext cx="548640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457200" y="5943600"/>
            <a:ext cx="4114800" cy="585216"/>
            <a:chOff x="0" y="0"/>
            <a:chExt cx="5486400" cy="78028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486400" cy="780288"/>
            </a:xfrm>
            <a:custGeom>
              <a:avLst/>
              <a:gdLst/>
              <a:ahLst/>
              <a:cxnLst/>
              <a:rect r="r" b="b" t="t" l="l"/>
              <a:pathLst>
                <a:path h="780288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004" r="0" b="-87004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548640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SHAP Explainability</a:t>
              </a: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731520" y="6573012"/>
            <a:ext cx="3566160" cy="1775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Integrate SHAP values to provide human-readable explanations for each individual churn prediction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4846320" y="5065776"/>
            <a:ext cx="4114800" cy="3474720"/>
            <a:chOff x="0" y="0"/>
            <a:chExt cx="5486400" cy="46329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486400" cy="4632960"/>
            </a:xfrm>
            <a:custGeom>
              <a:avLst/>
              <a:gdLst/>
              <a:ahLst/>
              <a:cxnLst/>
              <a:rect r="r" b="b" t="t" l="l"/>
              <a:pathLst>
                <a:path h="4632960" w="548640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5291328" y="0"/>
                  </a:lnTo>
                  <a:cubicBezTo>
                    <a:pt x="5399024" y="0"/>
                    <a:pt x="5486400" y="87376"/>
                    <a:pt x="5486400" y="195072"/>
                  </a:cubicBezTo>
                  <a:lnTo>
                    <a:pt x="5486400" y="4437888"/>
                  </a:lnTo>
                  <a:cubicBezTo>
                    <a:pt x="5486400" y="4545584"/>
                    <a:pt x="5399024" y="4632960"/>
                    <a:pt x="5291328" y="4632960"/>
                  </a:cubicBezTo>
                  <a:lnTo>
                    <a:pt x="195072" y="4632960"/>
                  </a:lnTo>
                  <a:cubicBezTo>
                    <a:pt x="87376" y="4632960"/>
                    <a:pt x="0" y="4545584"/>
                    <a:pt x="0" y="4437888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4846320" y="5212080"/>
            <a:ext cx="4114800" cy="731520"/>
            <a:chOff x="0" y="0"/>
            <a:chExt cx="5486400" cy="97536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486400" cy="975360"/>
            </a:xfrm>
            <a:custGeom>
              <a:avLst/>
              <a:gdLst/>
              <a:ahLst/>
              <a:cxnLst/>
              <a:rect r="r" b="b" t="t" l="l"/>
              <a:pathLst>
                <a:path h="97536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66675"/>
              <a:ext cx="548640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4846320" y="5943600"/>
            <a:ext cx="4114800" cy="585216"/>
            <a:chOff x="0" y="0"/>
            <a:chExt cx="5486400" cy="78028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486400" cy="780288"/>
            </a:xfrm>
            <a:custGeom>
              <a:avLst/>
              <a:gdLst/>
              <a:ahLst/>
              <a:cxnLst/>
              <a:rect r="r" b="b" t="t" l="l"/>
              <a:pathLst>
                <a:path h="780288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004" r="0" b="-87004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548640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REST API Layer</a:t>
              </a: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5120640" y="6573012"/>
            <a:ext cx="3566160" cy="1775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Expose prediction and recommendation endpoints via FastAPI for CRM and billing system integration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9235440" y="5065776"/>
            <a:ext cx="4114800" cy="3474720"/>
            <a:chOff x="0" y="0"/>
            <a:chExt cx="5486400" cy="463296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486400" cy="4632960"/>
            </a:xfrm>
            <a:custGeom>
              <a:avLst/>
              <a:gdLst/>
              <a:ahLst/>
              <a:cxnLst/>
              <a:rect r="r" b="b" t="t" l="l"/>
              <a:pathLst>
                <a:path h="4632960" w="548640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5291328" y="0"/>
                  </a:lnTo>
                  <a:cubicBezTo>
                    <a:pt x="5399024" y="0"/>
                    <a:pt x="5486400" y="87376"/>
                    <a:pt x="5486400" y="195072"/>
                  </a:cubicBezTo>
                  <a:lnTo>
                    <a:pt x="5486400" y="4437888"/>
                  </a:lnTo>
                  <a:cubicBezTo>
                    <a:pt x="5486400" y="4545584"/>
                    <a:pt x="5399024" y="4632960"/>
                    <a:pt x="5291328" y="4632960"/>
                  </a:cubicBezTo>
                  <a:lnTo>
                    <a:pt x="195072" y="4632960"/>
                  </a:lnTo>
                  <a:cubicBezTo>
                    <a:pt x="87376" y="4632960"/>
                    <a:pt x="0" y="4545584"/>
                    <a:pt x="0" y="4437888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9235440" y="5212080"/>
            <a:ext cx="4114800" cy="731520"/>
            <a:chOff x="0" y="0"/>
            <a:chExt cx="5486400" cy="97536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486400" cy="975360"/>
            </a:xfrm>
            <a:custGeom>
              <a:avLst/>
              <a:gdLst/>
              <a:ahLst/>
              <a:cxnLst/>
              <a:rect r="r" b="b" t="t" l="l"/>
              <a:pathLst>
                <a:path h="97536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66675"/>
              <a:ext cx="548640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07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9235440" y="5943600"/>
            <a:ext cx="4114800" cy="585216"/>
            <a:chOff x="0" y="0"/>
            <a:chExt cx="5486400" cy="78028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486400" cy="780288"/>
            </a:xfrm>
            <a:custGeom>
              <a:avLst/>
              <a:gdLst/>
              <a:ahLst/>
              <a:cxnLst/>
              <a:rect r="r" b="b" t="t" l="l"/>
              <a:pathLst>
                <a:path h="780288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004" r="0" b="-87004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548640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Power BI Integration</a:t>
              </a:r>
            </a:p>
          </p:txBody>
        </p:sp>
      </p:grpSp>
      <p:sp>
        <p:nvSpPr>
          <p:cNvPr name="TextBox 72" id="72"/>
          <p:cNvSpPr txBox="true"/>
          <p:nvPr/>
        </p:nvSpPr>
        <p:spPr>
          <a:xfrm rot="0">
            <a:off x="9509760" y="6573012"/>
            <a:ext cx="3566160" cy="1775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Export scored data to Power BI for enterprise-grade business intelligence and executive reporting</a:t>
            </a:r>
          </a:p>
        </p:txBody>
      </p:sp>
      <p:grpSp>
        <p:nvGrpSpPr>
          <p:cNvPr name="Group 73" id="73"/>
          <p:cNvGrpSpPr/>
          <p:nvPr/>
        </p:nvGrpSpPr>
        <p:grpSpPr>
          <a:xfrm rot="0">
            <a:off x="13624560" y="5065776"/>
            <a:ext cx="4114800" cy="3474720"/>
            <a:chOff x="0" y="0"/>
            <a:chExt cx="5486400" cy="463296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5486400" cy="4632960"/>
            </a:xfrm>
            <a:custGeom>
              <a:avLst/>
              <a:gdLst/>
              <a:ahLst/>
              <a:cxnLst/>
              <a:rect r="r" b="b" t="t" l="l"/>
              <a:pathLst>
                <a:path h="4632960" w="548640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5291328" y="0"/>
                  </a:lnTo>
                  <a:cubicBezTo>
                    <a:pt x="5399024" y="0"/>
                    <a:pt x="5486400" y="87376"/>
                    <a:pt x="5486400" y="195072"/>
                  </a:cubicBezTo>
                  <a:lnTo>
                    <a:pt x="5486400" y="4437888"/>
                  </a:lnTo>
                  <a:cubicBezTo>
                    <a:pt x="5486400" y="4545584"/>
                    <a:pt x="5399024" y="4632960"/>
                    <a:pt x="5291328" y="4632960"/>
                  </a:cubicBezTo>
                  <a:lnTo>
                    <a:pt x="195072" y="4632960"/>
                  </a:lnTo>
                  <a:cubicBezTo>
                    <a:pt x="87376" y="4632960"/>
                    <a:pt x="0" y="4545584"/>
                    <a:pt x="0" y="4437888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3624560" y="5212080"/>
            <a:ext cx="4114800" cy="731520"/>
            <a:chOff x="0" y="0"/>
            <a:chExt cx="5486400" cy="97536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486400" cy="975360"/>
            </a:xfrm>
            <a:custGeom>
              <a:avLst/>
              <a:gdLst/>
              <a:ahLst/>
              <a:cxnLst/>
              <a:rect r="r" b="b" t="t" l="l"/>
              <a:pathLst>
                <a:path h="97536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66675"/>
              <a:ext cx="548640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08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3624560" y="5943600"/>
            <a:ext cx="4114800" cy="585216"/>
            <a:chOff x="0" y="0"/>
            <a:chExt cx="5486400" cy="780288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486400" cy="780288"/>
            </a:xfrm>
            <a:custGeom>
              <a:avLst/>
              <a:gdLst/>
              <a:ahLst/>
              <a:cxnLst/>
              <a:rect r="r" b="b" t="t" l="l"/>
              <a:pathLst>
                <a:path h="780288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004" r="0" b="-87004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47625"/>
              <a:ext cx="548640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Snowflake DWH</a:t>
              </a:r>
            </a:p>
          </p:txBody>
        </p:sp>
      </p:grpSp>
      <p:sp>
        <p:nvSpPr>
          <p:cNvPr name="TextBox 81" id="81"/>
          <p:cNvSpPr txBox="true"/>
          <p:nvPr/>
        </p:nvSpPr>
        <p:spPr>
          <a:xfrm rot="0">
            <a:off x="13898880" y="6573012"/>
            <a:ext cx="3566160" cy="1775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Migrate analytical storage to Snowflake for columnar querying and seamless BI tool integration</a:t>
            </a:r>
          </a:p>
        </p:txBody>
      </p:sp>
      <p:grpSp>
        <p:nvGrpSpPr>
          <p:cNvPr name="Group 82" id="82"/>
          <p:cNvGrpSpPr/>
          <p:nvPr/>
        </p:nvGrpSpPr>
        <p:grpSpPr>
          <a:xfrm rot="0">
            <a:off x="16459200" y="182880"/>
            <a:ext cx="1371600" cy="1408176"/>
            <a:chOff x="0" y="0"/>
            <a:chExt cx="1828800" cy="187756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828800" cy="1877568"/>
            </a:xfrm>
            <a:custGeom>
              <a:avLst/>
              <a:gdLst/>
              <a:ahLst/>
              <a:cxnLst/>
              <a:rect r="r" b="b" t="t" l="l"/>
              <a:pathLst>
                <a:path h="187756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77568"/>
                  </a:lnTo>
                  <a:lnTo>
                    <a:pt x="0" y="1877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0629" t="-15369" r="-14905" b="-16644"/>
              </a:stretch>
            </a:blipFill>
          </p:spPr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9689087"/>
            <a:ext cx="18313403" cy="610619"/>
            <a:chOff x="0" y="0"/>
            <a:chExt cx="24417871" cy="8141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814197"/>
            </a:xfrm>
            <a:custGeom>
              <a:avLst/>
              <a:gdLst/>
              <a:ahLst/>
              <a:cxnLst/>
              <a:rect r="r" b="b" t="t" l="l"/>
              <a:pathLst>
                <a:path h="81419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00B0F0"/>
            </a:solidFill>
            <a:ln w="25400" cap="sq">
              <a:solidFill>
                <a:srgbClr val="00B0F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365760" y="9701784"/>
            <a:ext cx="17556480" cy="585216"/>
            <a:chOff x="0" y="0"/>
            <a:chExt cx="23408640" cy="7802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408639" cy="780288"/>
            </a:xfrm>
            <a:custGeom>
              <a:avLst/>
              <a:gdLst/>
              <a:ahLst/>
              <a:cxnLst/>
              <a:rect r="r" b="b" t="t" l="l"/>
              <a:pathLst>
                <a:path h="78028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3408640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Design and Implementation of a Scalable Telecom Customer Churn Prediction and Retention Platform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31520" y="182880"/>
            <a:ext cx="15270480" cy="1005840"/>
            <a:chOff x="0" y="0"/>
            <a:chExt cx="20360640" cy="13411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3606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0360639">
                  <a:moveTo>
                    <a:pt x="0" y="0"/>
                  </a:moveTo>
                  <a:lnTo>
                    <a:pt x="20360639" y="0"/>
                  </a:lnTo>
                  <a:lnTo>
                    <a:pt x="203606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818" r="0" b="-24581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85725"/>
              <a:ext cx="20360640" cy="1426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31520" y="1371600"/>
            <a:ext cx="16824960" cy="1499616"/>
            <a:chOff x="0" y="0"/>
            <a:chExt cx="22433280" cy="199948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433280" cy="1999488"/>
            </a:xfrm>
            <a:custGeom>
              <a:avLst/>
              <a:gdLst/>
              <a:ahLst/>
              <a:cxnLst/>
              <a:rect r="r" b="b" t="t" l="l"/>
              <a:pathLst>
                <a:path h="1999488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612" r="0" b="-16861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2433280" cy="20471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i="true">
                  <a:solidFill>
                    <a:srgbClr val="1A1A2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This project successfully demonstrates the design and implementation of a complete, production-grade ETL pipeline for Telecom Customer Churn Analysis — integrating data engineering, machine learning, and business intelligence into a unified deployable platform built entirely on open-source technologies.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48640" y="2962656"/>
            <a:ext cx="8412480" cy="1097280"/>
            <a:chOff x="0" y="0"/>
            <a:chExt cx="11216640" cy="14630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2166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12166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11094720" y="0"/>
                  </a:lnTo>
                  <a:cubicBezTo>
                    <a:pt x="11162030" y="0"/>
                    <a:pt x="11216640" y="54610"/>
                    <a:pt x="11216640" y="121920"/>
                  </a:cubicBezTo>
                  <a:lnTo>
                    <a:pt x="11216640" y="1341120"/>
                  </a:lnTo>
                  <a:cubicBezTo>
                    <a:pt x="11216640" y="1408430"/>
                    <a:pt x="11162030" y="1463040"/>
                    <a:pt x="11094720" y="1463040"/>
                  </a:cubicBezTo>
                  <a:lnTo>
                    <a:pt x="121920" y="1463040"/>
                  </a:lnTo>
                  <a:cubicBezTo>
                    <a:pt x="54610" y="1463040"/>
                    <a:pt x="0" y="1408430"/>
                    <a:pt x="0" y="1341120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731520" y="2962656"/>
            <a:ext cx="8046720" cy="1097280"/>
            <a:chOff x="0" y="0"/>
            <a:chExt cx="10728960" cy="14630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7289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072896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ETL Pipeline: </a:t>
              </a:r>
              <a:r>
                <a:rPr lang="en-US" sz="22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Complete pipeline processing 7,043 customer records end-to-end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326880" y="2962656"/>
            <a:ext cx="8412480" cy="1097280"/>
            <a:chOff x="0" y="0"/>
            <a:chExt cx="11216640" cy="14630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2166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12166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11094720" y="0"/>
                  </a:lnTo>
                  <a:cubicBezTo>
                    <a:pt x="11162030" y="0"/>
                    <a:pt x="11216640" y="54610"/>
                    <a:pt x="11216640" y="121920"/>
                  </a:cubicBezTo>
                  <a:lnTo>
                    <a:pt x="11216640" y="1341120"/>
                  </a:lnTo>
                  <a:cubicBezTo>
                    <a:pt x="11216640" y="1408430"/>
                    <a:pt x="11162030" y="1463040"/>
                    <a:pt x="11094720" y="1463040"/>
                  </a:cubicBezTo>
                  <a:lnTo>
                    <a:pt x="121920" y="1463040"/>
                  </a:lnTo>
                  <a:cubicBezTo>
                    <a:pt x="54610" y="1463040"/>
                    <a:pt x="0" y="1408430"/>
                    <a:pt x="0" y="1341120"/>
                  </a:cubicBezTo>
                  <a:close/>
                </a:path>
              </a:pathLst>
            </a:custGeom>
            <a:solidFill>
              <a:srgbClr val="F0FFF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509760" y="2962656"/>
            <a:ext cx="8046720" cy="1097280"/>
            <a:chOff x="0" y="0"/>
            <a:chExt cx="10728960" cy="14630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7289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072896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ML Pipeline: </a:t>
              </a:r>
              <a:r>
                <a:rPr lang="en-US" sz="22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 models trained; best auto-selected by ROC-AUC; batch scoring applied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48640" y="4242816"/>
            <a:ext cx="8412480" cy="1097280"/>
            <a:chOff x="0" y="0"/>
            <a:chExt cx="11216640" cy="14630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2166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12166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11094720" y="0"/>
                  </a:lnTo>
                  <a:cubicBezTo>
                    <a:pt x="11162030" y="0"/>
                    <a:pt x="11216640" y="54610"/>
                    <a:pt x="11216640" y="121920"/>
                  </a:cubicBezTo>
                  <a:lnTo>
                    <a:pt x="11216640" y="1341120"/>
                  </a:lnTo>
                  <a:cubicBezTo>
                    <a:pt x="11216640" y="1408430"/>
                    <a:pt x="11162030" y="1463040"/>
                    <a:pt x="11094720" y="1463040"/>
                  </a:cubicBezTo>
                  <a:lnTo>
                    <a:pt x="121920" y="1463040"/>
                  </a:lnTo>
                  <a:cubicBezTo>
                    <a:pt x="54610" y="1463040"/>
                    <a:pt x="0" y="1408430"/>
                    <a:pt x="0" y="1341120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731520" y="4242816"/>
            <a:ext cx="8046720" cy="1097280"/>
            <a:chOff x="0" y="0"/>
            <a:chExt cx="10728960" cy="14630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7289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1072896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Risk Classification: </a:t>
              </a:r>
              <a:r>
                <a:rPr lang="en-US" sz="22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Three-tier churn risk (High/Medium/Low) for all 7,043 customers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326880" y="4242816"/>
            <a:ext cx="8412480" cy="1097280"/>
            <a:chOff x="0" y="0"/>
            <a:chExt cx="11216640" cy="14630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2166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12166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11094720" y="0"/>
                  </a:lnTo>
                  <a:cubicBezTo>
                    <a:pt x="11162030" y="0"/>
                    <a:pt x="11216640" y="54610"/>
                    <a:pt x="11216640" y="121920"/>
                  </a:cubicBezTo>
                  <a:lnTo>
                    <a:pt x="11216640" y="1341120"/>
                  </a:lnTo>
                  <a:cubicBezTo>
                    <a:pt x="11216640" y="1408430"/>
                    <a:pt x="11162030" y="1463040"/>
                    <a:pt x="11094720" y="1463040"/>
                  </a:cubicBezTo>
                  <a:lnTo>
                    <a:pt x="121920" y="1463040"/>
                  </a:lnTo>
                  <a:cubicBezTo>
                    <a:pt x="54610" y="1463040"/>
                    <a:pt x="0" y="1408430"/>
                    <a:pt x="0" y="1341120"/>
                  </a:cubicBezTo>
                  <a:close/>
                </a:path>
              </a:pathLst>
            </a:custGeom>
            <a:solidFill>
              <a:srgbClr val="F0FFF0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509760" y="4242816"/>
            <a:ext cx="8046720" cy="1097280"/>
            <a:chOff x="0" y="0"/>
            <a:chExt cx="10728960" cy="14630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7289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1072896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Retention Engine: </a:t>
              </a:r>
              <a:r>
                <a:rPr lang="en-US" sz="22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7-strategy personalised offer recommendation engine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48640" y="5522976"/>
            <a:ext cx="8412480" cy="1097280"/>
            <a:chOff x="0" y="0"/>
            <a:chExt cx="11216640" cy="14630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2166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12166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11094720" y="0"/>
                  </a:lnTo>
                  <a:cubicBezTo>
                    <a:pt x="11162030" y="0"/>
                    <a:pt x="11216640" y="54610"/>
                    <a:pt x="11216640" y="121920"/>
                  </a:cubicBezTo>
                  <a:lnTo>
                    <a:pt x="11216640" y="1341120"/>
                  </a:lnTo>
                  <a:cubicBezTo>
                    <a:pt x="11216640" y="1408430"/>
                    <a:pt x="11162030" y="1463040"/>
                    <a:pt x="11094720" y="1463040"/>
                  </a:cubicBezTo>
                  <a:lnTo>
                    <a:pt x="121920" y="1463040"/>
                  </a:lnTo>
                  <a:cubicBezTo>
                    <a:pt x="54610" y="1463040"/>
                    <a:pt x="0" y="1408430"/>
                    <a:pt x="0" y="1341120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731520" y="5522976"/>
            <a:ext cx="8046720" cy="1097280"/>
            <a:chOff x="0" y="0"/>
            <a:chExt cx="10728960" cy="14630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7289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1072896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Dashboard: </a:t>
              </a:r>
              <a:r>
                <a:rPr lang="en-US" sz="22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5-page Streamlit dashboard with role-based access control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326880" y="5522976"/>
            <a:ext cx="8412480" cy="1097280"/>
            <a:chOff x="0" y="0"/>
            <a:chExt cx="11216640" cy="14630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2166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12166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11094720" y="0"/>
                  </a:lnTo>
                  <a:cubicBezTo>
                    <a:pt x="11162030" y="0"/>
                    <a:pt x="11216640" y="54610"/>
                    <a:pt x="11216640" y="121920"/>
                  </a:cubicBezTo>
                  <a:lnTo>
                    <a:pt x="11216640" y="1341120"/>
                  </a:lnTo>
                  <a:cubicBezTo>
                    <a:pt x="11216640" y="1408430"/>
                    <a:pt x="11162030" y="1463040"/>
                    <a:pt x="11094720" y="1463040"/>
                  </a:cubicBezTo>
                  <a:lnTo>
                    <a:pt x="121920" y="1463040"/>
                  </a:lnTo>
                  <a:cubicBezTo>
                    <a:pt x="54610" y="1463040"/>
                    <a:pt x="0" y="1408430"/>
                    <a:pt x="0" y="1341120"/>
                  </a:cubicBezTo>
                  <a:close/>
                </a:path>
              </a:pathLst>
            </a:custGeom>
            <a:solidFill>
              <a:srgbClr val="F0FFF0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509760" y="5522976"/>
            <a:ext cx="8046720" cy="1097280"/>
            <a:chOff x="0" y="0"/>
            <a:chExt cx="10728960" cy="14630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7289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1072896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Authentication: </a:t>
              </a:r>
              <a:r>
                <a:rPr lang="en-US" sz="22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Secure PBKDF2-SHA256 auth with complete audit logging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548640" y="6803136"/>
            <a:ext cx="8412480" cy="1097280"/>
            <a:chOff x="0" y="0"/>
            <a:chExt cx="11216640" cy="14630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12166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12166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11094720" y="0"/>
                  </a:lnTo>
                  <a:cubicBezTo>
                    <a:pt x="11162030" y="0"/>
                    <a:pt x="11216640" y="54610"/>
                    <a:pt x="11216640" y="121920"/>
                  </a:cubicBezTo>
                  <a:lnTo>
                    <a:pt x="11216640" y="1341120"/>
                  </a:lnTo>
                  <a:cubicBezTo>
                    <a:pt x="11216640" y="1408430"/>
                    <a:pt x="11162030" y="1463040"/>
                    <a:pt x="11094720" y="1463040"/>
                  </a:cubicBezTo>
                  <a:lnTo>
                    <a:pt x="121920" y="1463040"/>
                  </a:lnTo>
                  <a:cubicBezTo>
                    <a:pt x="54610" y="1463040"/>
                    <a:pt x="0" y="1408430"/>
                    <a:pt x="0" y="1341120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731520" y="6803136"/>
            <a:ext cx="8046720" cy="1097280"/>
            <a:chOff x="0" y="0"/>
            <a:chExt cx="10728960" cy="14630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7289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1072896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PySpark: </a:t>
              </a:r>
              <a:r>
                <a:rPr lang="en-US" sz="22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Enterprise-scale distributed processing integration demonstrated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326880" y="6803136"/>
            <a:ext cx="8412480" cy="1097280"/>
            <a:chOff x="0" y="0"/>
            <a:chExt cx="11216640" cy="14630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12166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12166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11094720" y="0"/>
                  </a:lnTo>
                  <a:cubicBezTo>
                    <a:pt x="11162030" y="0"/>
                    <a:pt x="11216640" y="54610"/>
                    <a:pt x="11216640" y="121920"/>
                  </a:cubicBezTo>
                  <a:lnTo>
                    <a:pt x="11216640" y="1341120"/>
                  </a:lnTo>
                  <a:cubicBezTo>
                    <a:pt x="11216640" y="1408430"/>
                    <a:pt x="11162030" y="1463040"/>
                    <a:pt x="11094720" y="1463040"/>
                  </a:cubicBezTo>
                  <a:lnTo>
                    <a:pt x="121920" y="1463040"/>
                  </a:lnTo>
                  <a:cubicBezTo>
                    <a:pt x="54610" y="1463040"/>
                    <a:pt x="0" y="1408430"/>
                    <a:pt x="0" y="1341120"/>
                  </a:cubicBezTo>
                  <a:close/>
                </a:path>
              </a:pathLst>
            </a:custGeom>
            <a:solidFill>
              <a:srgbClr val="F0FFF0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509760" y="6803136"/>
            <a:ext cx="8046720" cy="1097280"/>
            <a:chOff x="0" y="0"/>
            <a:chExt cx="10728960" cy="14630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7289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1072896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Test Suite: </a:t>
              </a:r>
              <a:r>
                <a:rPr lang="en-US" sz="22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100% pass rate — 48 unit tests across 9 test classes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6459200" y="182880"/>
            <a:ext cx="1371600" cy="1408176"/>
            <a:chOff x="0" y="0"/>
            <a:chExt cx="1828800" cy="187756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828800" cy="1877568"/>
            </a:xfrm>
            <a:custGeom>
              <a:avLst/>
              <a:gdLst/>
              <a:ahLst/>
              <a:cxnLst/>
              <a:rect r="r" b="b" t="t" l="l"/>
              <a:pathLst>
                <a:path h="187756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77568"/>
                  </a:lnTo>
                  <a:lnTo>
                    <a:pt x="0" y="1877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0629" t="-15369" r="-14905" b="-16644"/>
              </a:stretch>
            </a:blipFill>
          </p:spPr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9689087"/>
            <a:ext cx="18313403" cy="610619"/>
            <a:chOff x="0" y="0"/>
            <a:chExt cx="24417871" cy="8141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814197"/>
            </a:xfrm>
            <a:custGeom>
              <a:avLst/>
              <a:gdLst/>
              <a:ahLst/>
              <a:cxnLst/>
              <a:rect r="r" b="b" t="t" l="l"/>
              <a:pathLst>
                <a:path h="81419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00B0F0"/>
            </a:solidFill>
            <a:ln w="25400" cap="sq">
              <a:solidFill>
                <a:srgbClr val="00B0F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365760" y="9701784"/>
            <a:ext cx="17556480" cy="585216"/>
            <a:chOff x="0" y="0"/>
            <a:chExt cx="23408640" cy="7802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408639" cy="780288"/>
            </a:xfrm>
            <a:custGeom>
              <a:avLst/>
              <a:gdLst/>
              <a:ahLst/>
              <a:cxnLst/>
              <a:rect r="r" b="b" t="t" l="l"/>
              <a:pathLst>
                <a:path h="78028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3408640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Design and Implementation of a Scalable Telecom Customer Churn Prediction and Retention Platform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31520" y="182880"/>
            <a:ext cx="15270480" cy="1005840"/>
            <a:chOff x="0" y="0"/>
            <a:chExt cx="20360640" cy="13411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3606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0360639">
                  <a:moveTo>
                    <a:pt x="0" y="0"/>
                  </a:moveTo>
                  <a:lnTo>
                    <a:pt x="20360639" y="0"/>
                  </a:lnTo>
                  <a:lnTo>
                    <a:pt x="203606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818" r="0" b="-24581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85725"/>
              <a:ext cx="20360640" cy="1426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References / Bibliography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22960" y="1314831"/>
            <a:ext cx="16642080" cy="818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[1] IBM Sample Datasets. (2024). Telco Customer Churn Dataset. Kaggle. https://www.kaggle.com/blastchar/telco-customer-churn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[2] Apache Software Foundation. (2024). PySpark API Documentation — Apache Spark 3.5. https://spark.apache.org/docs/latest/api/python/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[3] Streamlit Inc. (2024). Streamlit Documentation. https://docs.streamlit.io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[4] scikit-learn Developers. (2024). scikit-learn: Machine Learning in Python. Journal of Machine Learning Research, 12, 2825–2830.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[5] McKinney, W. (2022). Python for Data Analysis (3rd ed.). O'Reilly Media.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[6] SQLAlchemy Authors. (2024). SQLAlchemy Documentation. https://docs.sqlalchemy.org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[7] PostgreSQL Global Development Group. (2024). PostgreSQL 15 Documentation. https://www.postgresql.org/docs/15/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[8] Chen, T., and Guestrin, C. (2016). XGBoost: A Scalable Tree Boosting System. Proceedings of KDD 2016, 785–794.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[9] Plotly Technologies Inc. (2024). Plotly Python Open-Source Graphing Library. https://plotly.com/python/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[10] pytest Development Team. (2024). pytest Documentation. https://docs.pytest.org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[11] Kleppmann, M. (2017). Designing Data-Intensive Applications. O'Reilly Media.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[12] Provost, F., and Fawcett, T. (2013). Data Science for Business. O'Reilly Media.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6459200" y="182880"/>
            <a:ext cx="1371600" cy="1408176"/>
            <a:chOff x="0" y="0"/>
            <a:chExt cx="1828800" cy="18775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28800" cy="1877568"/>
            </a:xfrm>
            <a:custGeom>
              <a:avLst/>
              <a:gdLst/>
              <a:ahLst/>
              <a:cxnLst/>
              <a:rect r="r" b="b" t="t" l="l"/>
              <a:pathLst>
                <a:path h="187756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77568"/>
                  </a:lnTo>
                  <a:lnTo>
                    <a:pt x="0" y="1877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0629" t="-15369" r="-14905" b="-16644"/>
              </a:stretch>
            </a:blipFill>
          </p:spPr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459200" y="182880"/>
            <a:ext cx="1371600" cy="1408176"/>
            <a:chOff x="0" y="0"/>
            <a:chExt cx="1828800" cy="18775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" cy="1877568"/>
            </a:xfrm>
            <a:custGeom>
              <a:avLst/>
              <a:gdLst/>
              <a:ahLst/>
              <a:cxnLst/>
              <a:rect r="r" b="b" t="t" l="l"/>
              <a:pathLst>
                <a:path h="187756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77568"/>
                  </a:lnTo>
                  <a:lnTo>
                    <a:pt x="0" y="1877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629" t="-15369" r="-14905" b="-1664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2697" y="9689087"/>
            <a:ext cx="18313403" cy="610619"/>
            <a:chOff x="0" y="0"/>
            <a:chExt cx="24417871" cy="8141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17910" cy="814197"/>
            </a:xfrm>
            <a:custGeom>
              <a:avLst/>
              <a:gdLst/>
              <a:ahLst/>
              <a:cxnLst/>
              <a:rect r="r" b="b" t="t" l="l"/>
              <a:pathLst>
                <a:path h="81419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00B0F0"/>
            </a:solidFill>
            <a:ln w="25400" cap="sq">
              <a:solidFill>
                <a:srgbClr val="00B0F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365760" y="9701784"/>
            <a:ext cx="17556480" cy="585216"/>
            <a:chOff x="0" y="0"/>
            <a:chExt cx="23408640" cy="7802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408639" cy="780288"/>
            </a:xfrm>
            <a:custGeom>
              <a:avLst/>
              <a:gdLst/>
              <a:ahLst/>
              <a:cxnLst/>
              <a:rect r="r" b="b" t="t" l="l"/>
              <a:pathLst>
                <a:path h="78028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3408640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Design and Implementation of a Scalable Telecom Customer Churn Prediction and Retention Platform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31520" y="182880"/>
            <a:ext cx="15270480" cy="1005840"/>
            <a:chOff x="0" y="0"/>
            <a:chExt cx="20360640" cy="13411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3606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0360639">
                  <a:moveTo>
                    <a:pt x="0" y="0"/>
                  </a:moveTo>
                  <a:lnTo>
                    <a:pt x="20360639" y="0"/>
                  </a:lnTo>
                  <a:lnTo>
                    <a:pt x="203606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5818" r="0" b="-24581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85725"/>
              <a:ext cx="20360640" cy="1426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Annexure — Sample Code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48640" y="1316736"/>
            <a:ext cx="8412480" cy="548640"/>
            <a:chOff x="0" y="0"/>
            <a:chExt cx="1121664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216640" cy="731520"/>
            </a:xfrm>
            <a:custGeom>
              <a:avLst/>
              <a:gdLst/>
              <a:ahLst/>
              <a:cxnLst/>
              <a:rect r="r" b="b" t="t" l="l"/>
              <a:pathLst>
                <a:path h="73152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8770" r="0" b="-24877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12166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extract.py — Data Extraction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48640" y="1865376"/>
            <a:ext cx="8412480" cy="2834640"/>
            <a:chOff x="0" y="0"/>
            <a:chExt cx="11216640" cy="3779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216640" cy="3779520"/>
            </a:xfrm>
            <a:custGeom>
              <a:avLst/>
              <a:gdLst/>
              <a:ahLst/>
              <a:cxnLst/>
              <a:rect r="r" b="b" t="t" l="l"/>
              <a:pathLst>
                <a:path h="3779520" w="112166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1070336" y="0"/>
                  </a:lnTo>
                  <a:cubicBezTo>
                    <a:pt x="11151108" y="0"/>
                    <a:pt x="11216640" y="65532"/>
                    <a:pt x="11216640" y="146304"/>
                  </a:cubicBezTo>
                  <a:lnTo>
                    <a:pt x="11216640" y="3633216"/>
                  </a:lnTo>
                  <a:cubicBezTo>
                    <a:pt x="11216640" y="3713988"/>
                    <a:pt x="11151108" y="3779520"/>
                    <a:pt x="11070336" y="3779520"/>
                  </a:cubicBezTo>
                  <a:lnTo>
                    <a:pt x="146304" y="3779520"/>
                  </a:lnTo>
                  <a:cubicBezTo>
                    <a:pt x="65532" y="3779520"/>
                    <a:pt x="0" y="3713988"/>
                    <a:pt x="0" y="3633216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40080" y="1901952"/>
            <a:ext cx="8229600" cy="2779776"/>
            <a:chOff x="0" y="0"/>
            <a:chExt cx="10972800" cy="370636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72800" cy="3706368"/>
            </a:xfrm>
            <a:custGeom>
              <a:avLst/>
              <a:gdLst/>
              <a:ahLst/>
              <a:cxnLst/>
              <a:rect r="r" b="b" t="t" l="l"/>
              <a:pathLst>
                <a:path h="370636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706368"/>
                  </a:lnTo>
                  <a:lnTo>
                    <a:pt x="0" y="37063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685" r="0" b="-768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0972800" cy="3706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A8D8E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def extract_data(filepath):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A8D8E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if not os.path.exists(filepath):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A8D8E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    raise FileNotFoundError(...)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A8D8E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df = pd.read_csv(filepath)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A8D8E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validate_columns(df, REQUIRED_COLUMNS)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A8D8E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shutil.copy2(filepath, BACKUP_DATA)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A8D8E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return df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48640" y="4846320"/>
            <a:ext cx="8412480" cy="548640"/>
            <a:chOff x="0" y="0"/>
            <a:chExt cx="1121664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216640" cy="731520"/>
            </a:xfrm>
            <a:custGeom>
              <a:avLst/>
              <a:gdLst/>
              <a:ahLst/>
              <a:cxnLst/>
              <a:rect r="r" b="b" t="t" l="l"/>
              <a:pathLst>
                <a:path h="73152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8770" r="0" b="-24877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12166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train_model.py — ML Training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48640" y="5394960"/>
            <a:ext cx="8412480" cy="2834640"/>
            <a:chOff x="0" y="0"/>
            <a:chExt cx="11216640" cy="3779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216640" cy="3779520"/>
            </a:xfrm>
            <a:custGeom>
              <a:avLst/>
              <a:gdLst/>
              <a:ahLst/>
              <a:cxnLst/>
              <a:rect r="r" b="b" t="t" l="l"/>
              <a:pathLst>
                <a:path h="3779520" w="112166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1070336" y="0"/>
                  </a:lnTo>
                  <a:cubicBezTo>
                    <a:pt x="11151108" y="0"/>
                    <a:pt x="11216640" y="65532"/>
                    <a:pt x="11216640" y="146304"/>
                  </a:cubicBezTo>
                  <a:lnTo>
                    <a:pt x="11216640" y="3633216"/>
                  </a:lnTo>
                  <a:cubicBezTo>
                    <a:pt x="11216640" y="3713988"/>
                    <a:pt x="11151108" y="3779520"/>
                    <a:pt x="11070336" y="3779520"/>
                  </a:cubicBezTo>
                  <a:lnTo>
                    <a:pt x="146304" y="3779520"/>
                  </a:lnTo>
                  <a:cubicBezTo>
                    <a:pt x="65532" y="3779520"/>
                    <a:pt x="0" y="3713988"/>
                    <a:pt x="0" y="3633216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40080" y="5431536"/>
            <a:ext cx="8229600" cy="2779776"/>
            <a:chOff x="0" y="0"/>
            <a:chExt cx="10972800" cy="370636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0" cy="3706368"/>
            </a:xfrm>
            <a:custGeom>
              <a:avLst/>
              <a:gdLst/>
              <a:ahLst/>
              <a:cxnLst/>
              <a:rect r="r" b="b" t="t" l="l"/>
              <a:pathLst>
                <a:path h="370636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706368"/>
                  </a:lnTo>
                  <a:lnTo>
                    <a:pt x="0" y="37063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685" r="0" b="-7685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10972800" cy="3706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A8D8E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models = {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A8D8E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"RandomForest": RandomForestClassifier(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A8D8E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n_estimators=200, class_weight="balanced"),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A8D8E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"GradientBoosting": GradientBoostingClassifier(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A8D8E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n_estimators=150, learning_rate=0.08),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A8D8E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A8D8E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for name, model in models.items():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A8D8E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auc = roc_auc_score(y_test, model...)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A8D8E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if auc &gt; best_auc: best_model = model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326880" y="1316736"/>
            <a:ext cx="8412480" cy="548640"/>
            <a:chOff x="0" y="0"/>
            <a:chExt cx="11216640" cy="7315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216640" cy="731520"/>
            </a:xfrm>
            <a:custGeom>
              <a:avLst/>
              <a:gdLst/>
              <a:ahLst/>
              <a:cxnLst/>
              <a:rect r="r" b="b" t="t" l="l"/>
              <a:pathLst>
                <a:path h="73152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8770" r="0" b="-24877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12166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auth.py — Password Hashing (PBKDF2-SHA256)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326880" y="1865376"/>
            <a:ext cx="8412480" cy="2834640"/>
            <a:chOff x="0" y="0"/>
            <a:chExt cx="11216640" cy="3779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216640" cy="3779520"/>
            </a:xfrm>
            <a:custGeom>
              <a:avLst/>
              <a:gdLst/>
              <a:ahLst/>
              <a:cxnLst/>
              <a:rect r="r" b="b" t="t" l="l"/>
              <a:pathLst>
                <a:path h="3779520" w="112166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1070336" y="0"/>
                  </a:lnTo>
                  <a:cubicBezTo>
                    <a:pt x="11151108" y="0"/>
                    <a:pt x="11216640" y="65532"/>
                    <a:pt x="11216640" y="146304"/>
                  </a:cubicBezTo>
                  <a:lnTo>
                    <a:pt x="11216640" y="3633216"/>
                  </a:lnTo>
                  <a:cubicBezTo>
                    <a:pt x="11216640" y="3713988"/>
                    <a:pt x="11151108" y="3779520"/>
                    <a:pt x="11070336" y="3779520"/>
                  </a:cubicBezTo>
                  <a:lnTo>
                    <a:pt x="146304" y="3779520"/>
                  </a:lnTo>
                  <a:cubicBezTo>
                    <a:pt x="65532" y="3779520"/>
                    <a:pt x="0" y="3713988"/>
                    <a:pt x="0" y="3633216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418320" y="1901952"/>
            <a:ext cx="8229600" cy="2779776"/>
            <a:chOff x="0" y="0"/>
            <a:chExt cx="10972800" cy="370636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72800" cy="3706368"/>
            </a:xfrm>
            <a:custGeom>
              <a:avLst/>
              <a:gdLst/>
              <a:ahLst/>
              <a:cxnLst/>
              <a:rect r="r" b="b" t="t" l="l"/>
              <a:pathLst>
                <a:path h="370636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706368"/>
                  </a:lnTo>
                  <a:lnTo>
                    <a:pt x="0" y="37063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685" r="0" b="-768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10972800" cy="3706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A8D8E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def _hash_password(password):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A8D8E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salt = os.urandom(32).hex()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A8D8E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key = hashlib.pbkdf2_hmac(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A8D8E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    "sha256", password.encode(),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A8D8E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    salt.encode(), 260_000)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A8D8E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return f"{salt}:{key.hex()}"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326880" y="4846320"/>
            <a:ext cx="8412480" cy="548640"/>
            <a:chOff x="0" y="0"/>
            <a:chExt cx="11216640" cy="7315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216640" cy="731520"/>
            </a:xfrm>
            <a:custGeom>
              <a:avLst/>
              <a:gdLst/>
              <a:ahLst/>
              <a:cxnLst/>
              <a:rect r="r" b="b" t="t" l="l"/>
              <a:pathLst>
                <a:path h="73152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8770" r="0" b="-24877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112166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recommend.py — Retention Offer Engine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326880" y="5394960"/>
            <a:ext cx="8412480" cy="2834640"/>
            <a:chOff x="0" y="0"/>
            <a:chExt cx="11216640" cy="37795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216640" cy="3779520"/>
            </a:xfrm>
            <a:custGeom>
              <a:avLst/>
              <a:gdLst/>
              <a:ahLst/>
              <a:cxnLst/>
              <a:rect r="r" b="b" t="t" l="l"/>
              <a:pathLst>
                <a:path h="3779520" w="112166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1070336" y="0"/>
                  </a:lnTo>
                  <a:cubicBezTo>
                    <a:pt x="11151108" y="0"/>
                    <a:pt x="11216640" y="65532"/>
                    <a:pt x="11216640" y="146304"/>
                  </a:cubicBezTo>
                  <a:lnTo>
                    <a:pt x="11216640" y="3633216"/>
                  </a:lnTo>
                  <a:cubicBezTo>
                    <a:pt x="11216640" y="3713988"/>
                    <a:pt x="11151108" y="3779520"/>
                    <a:pt x="11070336" y="3779520"/>
                  </a:cubicBezTo>
                  <a:lnTo>
                    <a:pt x="146304" y="3779520"/>
                  </a:lnTo>
                  <a:cubicBezTo>
                    <a:pt x="65532" y="3779520"/>
                    <a:pt x="0" y="3713988"/>
                    <a:pt x="0" y="3633216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9418320" y="5431536"/>
            <a:ext cx="8229600" cy="2779776"/>
            <a:chOff x="0" y="0"/>
            <a:chExt cx="10972800" cy="370636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972800" cy="3706368"/>
            </a:xfrm>
            <a:custGeom>
              <a:avLst/>
              <a:gdLst/>
              <a:ahLst/>
              <a:cxnLst/>
              <a:rect r="r" b="b" t="t" l="l"/>
              <a:pathLst>
                <a:path h="370636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706368"/>
                  </a:lnTo>
                  <a:lnTo>
                    <a:pt x="0" y="37063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685" r="0" b="-768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10972800" cy="3706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A8D8E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def recommend_offer(row):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A8D8E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prob = row["ChurnProbability"]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A8D8E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if prob &gt;= 0.80: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A8D8E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    return OFFERS["RETENTION_CALL"]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A8D8E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if row["SeniorCitizen"]==1: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A8D8E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    return OFFERS["SENIOR_PLAN"]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A8D8E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if "Month-to-month" in row["Contract"]: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A8D8E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    return OFFERS["CONTRACT_UPGRADE"]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A8D8E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return OFFERS["STANDARD_LOYALTY"]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459200" y="182880"/>
            <a:ext cx="1371600" cy="1371600"/>
            <a:chOff x="0" y="0"/>
            <a:chExt cx="1828800" cy="1828800"/>
          </a:xfrm>
        </p:grpSpPr>
        <p:sp>
          <p:nvSpPr>
            <p:cNvPr name="Freeform 3" id="3" descr="/home/claude/iims_logo.jpeg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2697" y="9689087"/>
            <a:ext cx="18313403" cy="610619"/>
            <a:chOff x="0" y="0"/>
            <a:chExt cx="24417871" cy="8141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17910" cy="814197"/>
            </a:xfrm>
            <a:custGeom>
              <a:avLst/>
              <a:gdLst/>
              <a:ahLst/>
              <a:cxnLst/>
              <a:rect r="r" b="b" t="t" l="l"/>
              <a:pathLst>
                <a:path h="81419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00B0F0"/>
            </a:solidFill>
            <a:ln w="25400" cap="sq">
              <a:solidFill>
                <a:srgbClr val="00B0F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365760" y="9701784"/>
            <a:ext cx="17556480" cy="585216"/>
            <a:chOff x="0" y="0"/>
            <a:chExt cx="23408640" cy="7802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408639" cy="780288"/>
            </a:xfrm>
            <a:custGeom>
              <a:avLst/>
              <a:gdLst/>
              <a:ahLst/>
              <a:cxnLst/>
              <a:rect r="r" b="b" t="t" l="l"/>
              <a:pathLst>
                <a:path h="78028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3408640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Design and Implementation of a Scalable Telecom Customer Churn Prediction and Retention Platform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80160" y="2868658"/>
            <a:ext cx="15727680" cy="2377440"/>
            <a:chOff x="0" y="0"/>
            <a:chExt cx="20970240" cy="3169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970239" cy="3169920"/>
            </a:xfrm>
            <a:custGeom>
              <a:avLst/>
              <a:gdLst/>
              <a:ahLst/>
              <a:cxnLst/>
              <a:rect r="r" b="b" t="t" l="l"/>
              <a:pathLst>
                <a:path h="316992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8901" r="0" b="-7890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0"/>
              <a:ext cx="20970240" cy="33604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800"/>
                </a:lnSpc>
              </a:pPr>
              <a:r>
                <a:rPr lang="en-US" sz="9000" b="true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Thank you!!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" y="4205697"/>
            <a:ext cx="16459200" cy="2080803"/>
            <a:chOff x="0" y="0"/>
            <a:chExt cx="21945600" cy="277440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2774404"/>
            </a:xfrm>
            <a:custGeom>
              <a:avLst/>
              <a:gdLst/>
              <a:ahLst/>
              <a:cxnLst/>
              <a:rect r="r" b="b" t="t" l="l"/>
              <a:pathLst>
                <a:path h="277440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774404"/>
                  </a:lnTo>
                  <a:lnTo>
                    <a:pt x="0" y="27744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082" r="0" b="-17717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21945600" cy="28315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PRESENTED BY</a:t>
              </a:r>
            </a:p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Divyesh S. Joshi</a:t>
              </a:r>
            </a:p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Seat No.: 52419 | Roll No.: MC24097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DAHMKS7gn20</dc:identifier>
  <dcterms:modified xsi:type="dcterms:W3CDTF">2011-08-01T06:04:30Z</dcterms:modified>
  <cp:revision>1</cp:revision>
  <dc:title>Telecom_Churn_Project_Presentation.pptx</dc:title>
</cp:coreProperties>
</file>