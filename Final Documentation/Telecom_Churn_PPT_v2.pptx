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Calibri (MS) Italics" charset="1" panose="020F05020202040A0204"/>
      <p:regular r:id="rId41"/>
    </p:embeddedFont>
    <p:embeddedFont>
      <p:font typeface="Courier New" charset="1" panose="020703090202050204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9.xml" Type="http://schemas.openxmlformats.org/officeDocument/2006/relationships/notesSlide"/><Relationship Id="rId51" Target="notesSlides/notesSlide20.xml" Type="http://schemas.openxmlformats.org/officeDocument/2006/relationships/notesSlide"/><Relationship Id="rId52" Target="fonts/font52.fntdata" Type="http://schemas.openxmlformats.org/officeDocument/2006/relationships/font"/><Relationship Id="rId53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3.pn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0640" y="219456"/>
            <a:ext cx="1316736" cy="1316736"/>
            <a:chOff x="0" y="0"/>
            <a:chExt cx="1755648" cy="1755648"/>
          </a:xfrm>
        </p:grpSpPr>
        <p:sp>
          <p:nvSpPr>
            <p:cNvPr name="Freeform 3" id="3" descr="/home/claude/iims_logo.jpeg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910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B1120"/>
            </a:solidFill>
            <a:ln w="25400" cap="sq">
              <a:solidFill>
                <a:srgbClr val="0B112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2755897" y="-2755897"/>
            <a:ext cx="8255003" cy="8255003"/>
            <a:chOff x="0" y="0"/>
            <a:chExt cx="11006671" cy="11006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06B6D4">
                <a:alpha val="1176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03303" y="6388103"/>
            <a:ext cx="7340603" cy="7340603"/>
            <a:chOff x="0" y="0"/>
            <a:chExt cx="9787471" cy="9787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0891B2">
                <a:alpha val="784"/>
              </a:srgbClr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25883" y="219456"/>
            <a:ext cx="1596357" cy="1596357"/>
            <a:chOff x="0" y="0"/>
            <a:chExt cx="1755648" cy="1755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61" t="0" r="-7235" b="-1209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402336"/>
            <a:ext cx="15544800" cy="822960"/>
            <a:chOff x="0" y="0"/>
            <a:chExt cx="207264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72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050" r="0" b="-3180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07264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spc="399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 PROJECT PRESENTATION  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1188720"/>
            <a:ext cx="16459200" cy="3657600"/>
            <a:chOff x="0" y="0"/>
            <a:chExt cx="21945600" cy="487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2194560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Scalable Telecom Customer Churn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 and Retention Platform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using PySpark and Machine Learning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07943" y="4961639"/>
            <a:ext cx="8072123" cy="80267"/>
            <a:chOff x="0" y="0"/>
            <a:chExt cx="10762831" cy="1070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62869" cy="107061"/>
            </a:xfrm>
            <a:custGeom>
              <a:avLst/>
              <a:gdLst/>
              <a:ahLst/>
              <a:cxnLst/>
              <a:rect r="r" b="b" t="t" l="l"/>
              <a:pathLst>
                <a:path h="10706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5084064"/>
            <a:ext cx="16459200" cy="4572000"/>
            <a:chOff x="0" y="0"/>
            <a:chExt cx="21945600" cy="609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560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MCA SEM IV  ·  Batch 2024–26</a:t>
              </a:r>
            </a:p>
            <a:p>
              <a:pPr algn="ctr">
                <a:lnSpc>
                  <a:spcPts val="2640"/>
                </a:lnSpc>
              </a:pP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Divyesh S. Joshi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Seat No.: 52419  |  Roll No.: MC24097</a:t>
              </a:r>
            </a:p>
            <a:p>
              <a:pPr algn="ctr">
                <a:lnSpc>
                  <a:spcPts val="2640"/>
                </a:lnSpc>
              </a:pP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 THE GUIDANCE OF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Yugandhara Patil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IIMS Chinchwad, Pune  ·  Savitribai Phule Pune University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1413767"/>
            <a:ext cx="7980683" cy="1086107"/>
            <a:chOff x="0" y="0"/>
            <a:chExt cx="10640911" cy="14481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1426464"/>
            <a:ext cx="877824" cy="1060704"/>
            <a:chOff x="0" y="0"/>
            <a:chExt cx="1170432" cy="14142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92224" y="1426464"/>
            <a:ext cx="6583680" cy="1060704"/>
            <a:chOff x="0" y="0"/>
            <a:chExt cx="8778240" cy="141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 &amp; Company Profile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943" y="2675639"/>
            <a:ext cx="7980683" cy="1086107"/>
            <a:chOff x="0" y="0"/>
            <a:chExt cx="10640911" cy="14481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68096" y="2688336"/>
            <a:ext cx="877824" cy="1060704"/>
            <a:chOff x="0" y="0"/>
            <a:chExt cx="1170432" cy="14142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92224" y="2688336"/>
            <a:ext cx="6583680" cy="1060704"/>
            <a:chOff x="0" y="0"/>
            <a:chExt cx="8778240" cy="14142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&amp; Objectives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5943" y="3937511"/>
            <a:ext cx="7980683" cy="1086107"/>
            <a:chOff x="0" y="0"/>
            <a:chExt cx="10640911" cy="14481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68096" y="3950208"/>
            <a:ext cx="877824" cy="1060704"/>
            <a:chOff x="0" y="0"/>
            <a:chExt cx="1170432" cy="14142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92224" y="3950208"/>
            <a:ext cx="6583680" cy="1060704"/>
            <a:chOff x="0" y="0"/>
            <a:chExt cx="8778240" cy="14142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Scope of Project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5943" y="5199383"/>
            <a:ext cx="7980683" cy="1086107"/>
            <a:chOff x="0" y="0"/>
            <a:chExt cx="10640911" cy="14481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68096" y="5212080"/>
            <a:ext cx="877824" cy="1060704"/>
            <a:chOff x="0" y="0"/>
            <a:chExt cx="1170432" cy="14142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92224" y="5212080"/>
            <a:ext cx="6583680" cy="1060704"/>
            <a:chOff x="0" y="0"/>
            <a:chExt cx="877824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Used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6461255"/>
            <a:ext cx="7980683" cy="1086107"/>
            <a:chOff x="0" y="0"/>
            <a:chExt cx="10640911" cy="14481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68096" y="6473952"/>
            <a:ext cx="877824" cy="1060704"/>
            <a:chOff x="0" y="0"/>
            <a:chExt cx="1170432" cy="14142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92224" y="6473952"/>
            <a:ext cx="6583680" cy="1060704"/>
            <a:chOff x="0" y="0"/>
            <a:chExt cx="8778240" cy="14142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Analysis — Functional &amp; Non-Functional Requirements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5943" y="7723127"/>
            <a:ext cx="7980683" cy="1086107"/>
            <a:chOff x="0" y="0"/>
            <a:chExt cx="10640911" cy="14481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68096" y="7735824"/>
            <a:ext cx="877824" cy="1060704"/>
            <a:chOff x="0" y="0"/>
            <a:chExt cx="1170432" cy="14142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92224" y="7735824"/>
            <a:ext cx="6583680" cy="1060704"/>
            <a:chOff x="0" y="0"/>
            <a:chExt cx="8778240" cy="14142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UML Diagrams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771383" y="1413767"/>
            <a:ext cx="7980683" cy="1086107"/>
            <a:chOff x="0" y="0"/>
            <a:chExt cx="10640911" cy="14481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003536" y="1426464"/>
            <a:ext cx="877824" cy="1060704"/>
            <a:chOff x="0" y="0"/>
            <a:chExt cx="1170432" cy="14142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027664" y="1426464"/>
            <a:ext cx="6583680" cy="1060704"/>
            <a:chOff x="0" y="0"/>
            <a:chExt cx="8778240" cy="14142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 Diagram &amp; Database Design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71383" y="2675639"/>
            <a:ext cx="7980683" cy="1086107"/>
            <a:chOff x="0" y="0"/>
            <a:chExt cx="10640911" cy="14481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003536" y="2688336"/>
            <a:ext cx="877824" cy="1060704"/>
            <a:chOff x="0" y="0"/>
            <a:chExt cx="1170432" cy="14142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027664" y="2688336"/>
            <a:ext cx="6583680" cy="1060704"/>
            <a:chOff x="0" y="0"/>
            <a:chExt cx="8778240" cy="141427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Screenshots &amp; Reports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771383" y="3937511"/>
            <a:ext cx="7980683" cy="1086107"/>
            <a:chOff x="0" y="0"/>
            <a:chExt cx="10640911" cy="144814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0003536" y="3950208"/>
            <a:ext cx="877824" cy="1060704"/>
            <a:chOff x="0" y="0"/>
            <a:chExt cx="1170432" cy="14142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027664" y="3950208"/>
            <a:ext cx="6583680" cy="1060704"/>
            <a:chOff x="0" y="0"/>
            <a:chExt cx="8778240" cy="14142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Cases &amp; Results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771383" y="5199383"/>
            <a:ext cx="7980683" cy="1086107"/>
            <a:chOff x="0" y="0"/>
            <a:chExt cx="10640911" cy="144814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003536" y="5212080"/>
            <a:ext cx="877824" cy="1060704"/>
            <a:chOff x="0" y="0"/>
            <a:chExt cx="1170432" cy="14142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027664" y="5212080"/>
            <a:ext cx="6583680" cy="1060704"/>
            <a:chOff x="0" y="0"/>
            <a:chExt cx="8778240" cy="14142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Limitations &amp; Future Enhancements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771383" y="6461255"/>
            <a:ext cx="7980683" cy="1086107"/>
            <a:chOff x="0" y="0"/>
            <a:chExt cx="10640911" cy="144814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0003536" y="6473952"/>
            <a:ext cx="877824" cy="1060704"/>
            <a:chOff x="0" y="0"/>
            <a:chExt cx="1170432" cy="14142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027664" y="6473952"/>
            <a:ext cx="6583680" cy="1060704"/>
            <a:chOff x="0" y="0"/>
            <a:chExt cx="8778240" cy="141427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771383" y="7723127"/>
            <a:ext cx="7980683" cy="1086107"/>
            <a:chOff x="0" y="0"/>
            <a:chExt cx="10640911" cy="144814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640949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40949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10491089" y="0"/>
                  </a:lnTo>
                  <a:cubicBezTo>
                    <a:pt x="10573766" y="0"/>
                    <a:pt x="10640949" y="67056"/>
                    <a:pt x="10640949" y="149860"/>
                  </a:cubicBezTo>
                  <a:lnTo>
                    <a:pt x="10640949" y="1298321"/>
                  </a:lnTo>
                  <a:cubicBezTo>
                    <a:pt x="10640949" y="1380998"/>
                    <a:pt x="10573893" y="1448181"/>
                    <a:pt x="10491089" y="1448181"/>
                  </a:cubicBezTo>
                  <a:lnTo>
                    <a:pt x="149860" y="1448181"/>
                  </a:lnTo>
                  <a:cubicBezTo>
                    <a:pt x="67183" y="1448181"/>
                    <a:pt x="0" y="1381125"/>
                    <a:pt x="0" y="1298321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003536" y="7735824"/>
            <a:ext cx="877824" cy="1060704"/>
            <a:chOff x="0" y="0"/>
            <a:chExt cx="1170432" cy="141427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7043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33" t="0" r="-10503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1170432" cy="1471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027664" y="7735824"/>
            <a:ext cx="6583680" cy="1060704"/>
            <a:chOff x="0" y="0"/>
            <a:chExt cx="8778240" cy="141427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7782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41" r="0" b="-7094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877824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References &amp; Annexure (Sample Code)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475737" y="2730503"/>
            <a:ext cx="6426203" cy="6426203"/>
            <a:chOff x="0" y="0"/>
            <a:chExt cx="8568271" cy="8568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06B6D4">
                <a:alpha val="784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463040"/>
            <a:ext cx="2194560" cy="1463040"/>
            <a:chOff x="0" y="0"/>
            <a:chExt cx="292608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260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09550"/>
              <a:ext cx="292608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834640"/>
            <a:ext cx="16459200" cy="1188720"/>
            <a:chOff x="0" y="0"/>
            <a:chExt cx="2194560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21945600" cy="171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02336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6B6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Company Profile  ·  Problem Statement  ·  Objectives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4888487"/>
            <a:ext cx="3317243" cy="98555"/>
            <a:chOff x="0" y="0"/>
            <a:chExt cx="4422991" cy="1314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23029" cy="131445"/>
            </a:xfrm>
            <a:custGeom>
              <a:avLst/>
              <a:gdLst/>
              <a:ahLst/>
              <a:cxnLst/>
              <a:rect r="r" b="b" t="t" l="l"/>
              <a:pathLst>
                <a:path h="131445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31520" y="1360170"/>
            <a:ext cx="9875520" cy="819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891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Customer Churn?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occurs when subscribers discontinue a telecom service and switch to competitors — representing direct, measurable revenue loss.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891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Business Problem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The IBM Telco dataset reveals a 26.5% churn rate. Manual identification of at-risk customers is slow, subjective, and does not scale to enterprise volumes.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891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Company: D-Table Analytics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A technology and analytics company providing data engineering, BI, and automation solutions. This project was developed as part of OJT requirements for MCA Sem IV.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72800" y="1554480"/>
            <a:ext cx="3255264" cy="2962656"/>
            <a:chOff x="0" y="0"/>
            <a:chExt cx="4340352" cy="39502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40352" cy="3950208"/>
            </a:xfrm>
            <a:custGeom>
              <a:avLst/>
              <a:gdLst/>
              <a:ahLst/>
              <a:cxnLst/>
              <a:rect r="r" b="b" t="t" l="l"/>
              <a:pathLst>
                <a:path h="3950208" w="43403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96512" y="0"/>
                  </a:lnTo>
                  <a:cubicBezTo>
                    <a:pt x="4231132" y="0"/>
                    <a:pt x="4340352" y="109220"/>
                    <a:pt x="4340352" y="243840"/>
                  </a:cubicBezTo>
                  <a:lnTo>
                    <a:pt x="4340352" y="3706368"/>
                  </a:lnTo>
                  <a:cubicBezTo>
                    <a:pt x="4340352" y="3840988"/>
                    <a:pt x="4231132" y="3950208"/>
                    <a:pt x="4096512" y="3950208"/>
                  </a:cubicBezTo>
                  <a:lnTo>
                    <a:pt x="243840" y="3950208"/>
                  </a:lnTo>
                  <a:cubicBezTo>
                    <a:pt x="109220" y="3950208"/>
                    <a:pt x="0" y="3840988"/>
                    <a:pt x="0" y="370636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0" y="2011680"/>
            <a:ext cx="3255264" cy="1316736"/>
            <a:chOff x="0" y="0"/>
            <a:chExt cx="4340352" cy="1755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403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8" t="0" r="-189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4340352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7,043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0" y="3346704"/>
            <a:ext cx="3255264" cy="914400"/>
            <a:chOff x="0" y="0"/>
            <a:chExt cx="4340352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40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40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Customers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84096" y="1554480"/>
            <a:ext cx="3255264" cy="2962656"/>
            <a:chOff x="0" y="0"/>
            <a:chExt cx="4340352" cy="39502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40352" cy="3950208"/>
            </a:xfrm>
            <a:custGeom>
              <a:avLst/>
              <a:gdLst/>
              <a:ahLst/>
              <a:cxnLst/>
              <a:rect r="r" b="b" t="t" l="l"/>
              <a:pathLst>
                <a:path h="3950208" w="43403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96512" y="0"/>
                  </a:lnTo>
                  <a:cubicBezTo>
                    <a:pt x="4231132" y="0"/>
                    <a:pt x="4340352" y="109220"/>
                    <a:pt x="4340352" y="243840"/>
                  </a:cubicBezTo>
                  <a:lnTo>
                    <a:pt x="4340352" y="3706368"/>
                  </a:lnTo>
                  <a:cubicBezTo>
                    <a:pt x="4340352" y="3840988"/>
                    <a:pt x="4231132" y="3950208"/>
                    <a:pt x="4096512" y="3950208"/>
                  </a:cubicBezTo>
                  <a:lnTo>
                    <a:pt x="243840" y="3950208"/>
                  </a:lnTo>
                  <a:cubicBezTo>
                    <a:pt x="109220" y="3950208"/>
                    <a:pt x="0" y="3840988"/>
                    <a:pt x="0" y="370636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484096" y="2011680"/>
            <a:ext cx="3255264" cy="1316736"/>
            <a:chOff x="0" y="0"/>
            <a:chExt cx="4340352" cy="1755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403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8" t="0" r="-189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4340352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26.5%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84096" y="3346704"/>
            <a:ext cx="3255264" cy="914400"/>
            <a:chOff x="0" y="0"/>
            <a:chExt cx="4340352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40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340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Churn Rate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0" y="4882896"/>
            <a:ext cx="3255264" cy="2962656"/>
            <a:chOff x="0" y="0"/>
            <a:chExt cx="4340352" cy="39502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40352" cy="3950208"/>
            </a:xfrm>
            <a:custGeom>
              <a:avLst/>
              <a:gdLst/>
              <a:ahLst/>
              <a:cxnLst/>
              <a:rect r="r" b="b" t="t" l="l"/>
              <a:pathLst>
                <a:path h="3950208" w="43403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96512" y="0"/>
                  </a:lnTo>
                  <a:cubicBezTo>
                    <a:pt x="4231132" y="0"/>
                    <a:pt x="4340352" y="109220"/>
                    <a:pt x="4340352" y="243840"/>
                  </a:cubicBezTo>
                  <a:lnTo>
                    <a:pt x="4340352" y="3706368"/>
                  </a:lnTo>
                  <a:cubicBezTo>
                    <a:pt x="4340352" y="3840988"/>
                    <a:pt x="4231132" y="3950208"/>
                    <a:pt x="4096512" y="3950208"/>
                  </a:cubicBezTo>
                  <a:lnTo>
                    <a:pt x="243840" y="3950208"/>
                  </a:lnTo>
                  <a:cubicBezTo>
                    <a:pt x="109220" y="3950208"/>
                    <a:pt x="0" y="3840988"/>
                    <a:pt x="0" y="370636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0" y="5340096"/>
            <a:ext cx="3255264" cy="1316736"/>
            <a:chOff x="0" y="0"/>
            <a:chExt cx="4340352" cy="1755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403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8" t="0" r="-189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4340352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72800" y="6675120"/>
            <a:ext cx="3255264" cy="914400"/>
            <a:chOff x="0" y="0"/>
            <a:chExt cx="4340352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0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340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Models Trained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484096" y="4882896"/>
            <a:ext cx="3255264" cy="2962656"/>
            <a:chOff x="0" y="0"/>
            <a:chExt cx="4340352" cy="39502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40352" cy="3950208"/>
            </a:xfrm>
            <a:custGeom>
              <a:avLst/>
              <a:gdLst/>
              <a:ahLst/>
              <a:cxnLst/>
              <a:rect r="r" b="b" t="t" l="l"/>
              <a:pathLst>
                <a:path h="3950208" w="43403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96512" y="0"/>
                  </a:lnTo>
                  <a:cubicBezTo>
                    <a:pt x="4231132" y="0"/>
                    <a:pt x="4340352" y="109220"/>
                    <a:pt x="4340352" y="243840"/>
                  </a:cubicBezTo>
                  <a:lnTo>
                    <a:pt x="4340352" y="3706368"/>
                  </a:lnTo>
                  <a:cubicBezTo>
                    <a:pt x="4340352" y="3840988"/>
                    <a:pt x="4231132" y="3950208"/>
                    <a:pt x="4096512" y="3950208"/>
                  </a:cubicBezTo>
                  <a:lnTo>
                    <a:pt x="243840" y="3950208"/>
                  </a:lnTo>
                  <a:cubicBezTo>
                    <a:pt x="109220" y="3950208"/>
                    <a:pt x="0" y="3840988"/>
                    <a:pt x="0" y="370636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484096" y="5340096"/>
            <a:ext cx="3255264" cy="1316736"/>
            <a:chOff x="0" y="0"/>
            <a:chExt cx="4340352" cy="17556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403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8" t="0" r="-189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4340352" cy="186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48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84096" y="6675120"/>
            <a:ext cx="3255264" cy="914400"/>
            <a:chOff x="0" y="0"/>
            <a:chExt cx="4340352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40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66" r="0" b="-193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340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Unit Tests — 100% Pass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of the Proposed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1371600"/>
            <a:ext cx="5669280" cy="2523744"/>
            <a:chOff x="0" y="0"/>
            <a:chExt cx="7559040" cy="33649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6656" y="1517904"/>
            <a:ext cx="877824" cy="768096"/>
            <a:chOff x="0" y="0"/>
            <a:chExt cx="1170432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31520" y="22570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and implement complete ETL pipeline using Python, Pandas, and PySpark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00800" y="1371600"/>
            <a:ext cx="5669280" cy="2523744"/>
            <a:chOff x="0" y="0"/>
            <a:chExt cx="7559040" cy="33649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20256" y="1517904"/>
            <a:ext cx="877824" cy="768096"/>
            <a:chOff x="0" y="0"/>
            <a:chExt cx="1170432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675120" y="22570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Clean, transform, and engineer features from IBM Telco dataset (7,043 records, 21 columns)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44400" y="1371600"/>
            <a:ext cx="5669280" cy="2523744"/>
            <a:chOff x="0" y="0"/>
            <a:chExt cx="7559040" cy="33649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63856" y="1517904"/>
            <a:ext cx="877824" cy="768096"/>
            <a:chOff x="0" y="0"/>
            <a:chExt cx="1170432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618720" y="22570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Train 3 ML models (RF, GBT, LR); auto-select best by ROC-AUC score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57200" y="4114800"/>
            <a:ext cx="5669280" cy="2523744"/>
            <a:chOff x="0" y="0"/>
            <a:chExt cx="7559040" cy="33649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6656" y="4261104"/>
            <a:ext cx="877824" cy="768096"/>
            <a:chOff x="0" y="0"/>
            <a:chExt cx="1170432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31520" y="50002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Score all customers with ChurnProbability and 3-tier ChurnRisk classification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00800" y="4114800"/>
            <a:ext cx="5669280" cy="2523744"/>
            <a:chOff x="0" y="0"/>
            <a:chExt cx="7559040" cy="33649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20256" y="4261104"/>
            <a:ext cx="877824" cy="768096"/>
            <a:chOff x="0" y="0"/>
            <a:chExt cx="1170432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675120" y="50002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personalised retention offers via a 7-strategy recommendation engine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344400" y="4114800"/>
            <a:ext cx="5669280" cy="2523744"/>
            <a:chOff x="0" y="0"/>
            <a:chExt cx="7559040" cy="33649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63856" y="4261104"/>
            <a:ext cx="877824" cy="768096"/>
            <a:chOff x="0" y="0"/>
            <a:chExt cx="1170432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618720" y="50002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5-page role-based Streamlit analytics dashboard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57200" y="6858000"/>
            <a:ext cx="5669280" cy="2523744"/>
            <a:chOff x="0" y="0"/>
            <a:chExt cx="7559040" cy="33649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76656" y="7004304"/>
            <a:ext cx="877824" cy="768096"/>
            <a:chOff x="0" y="0"/>
            <a:chExt cx="1170432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731520" y="77434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PBKDF2-SHA256 authentication with session management and audit logging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400800" y="6858000"/>
            <a:ext cx="5669280" cy="2523744"/>
            <a:chOff x="0" y="0"/>
            <a:chExt cx="7559040" cy="33649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620256" y="7004304"/>
            <a:ext cx="877824" cy="768096"/>
            <a:chOff x="0" y="0"/>
            <a:chExt cx="1170432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6675120" y="77434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Demonstrate scalable distributed processing using Apache PySpark 3.5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344400" y="6858000"/>
            <a:ext cx="5669280" cy="2523744"/>
            <a:chOff x="0" y="0"/>
            <a:chExt cx="7559040" cy="33649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55904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5590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315200" y="0"/>
                  </a:lnTo>
                  <a:cubicBezTo>
                    <a:pt x="7449820" y="0"/>
                    <a:pt x="7559040" y="109220"/>
                    <a:pt x="7559040" y="243840"/>
                  </a:cubicBezTo>
                  <a:lnTo>
                    <a:pt x="7559040" y="3121152"/>
                  </a:lnTo>
                  <a:cubicBezTo>
                    <a:pt x="7559040" y="3255772"/>
                    <a:pt x="7449820" y="3364992"/>
                    <a:pt x="7315200" y="3364992"/>
                  </a:cubicBezTo>
                  <a:lnTo>
                    <a:pt x="243840" y="3364992"/>
                  </a:lnTo>
                  <a:cubicBezTo>
                    <a:pt x="109220" y="3364992"/>
                    <a:pt x="0" y="3255772"/>
                    <a:pt x="0" y="3121152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563856" y="7004304"/>
            <a:ext cx="877824" cy="768096"/>
            <a:chOff x="0" y="0"/>
            <a:chExt cx="1170432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170432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2618720" y="7743444"/>
            <a:ext cx="5120640" cy="14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D1D5DB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 100% unit test pass rate across all modules (48 tests, 9 classes)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 of the Proposed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1358903"/>
            <a:ext cx="17216123" cy="994667"/>
            <a:chOff x="0" y="0"/>
            <a:chExt cx="22954831" cy="13262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371600"/>
            <a:ext cx="1316736" cy="969264"/>
            <a:chOff x="0" y="0"/>
            <a:chExt cx="1755648" cy="12923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98983" y="1578359"/>
            <a:ext cx="61979" cy="574043"/>
            <a:chOff x="0" y="0"/>
            <a:chExt cx="82639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194560" y="1371600"/>
            <a:ext cx="15361920" cy="969264"/>
            <a:chOff x="0" y="0"/>
            <a:chExt cx="20482560" cy="12923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ETL Pipeline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extraction → data cleaning → feature engineering → PostgreSQL loading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943" y="2437895"/>
            <a:ext cx="17216123" cy="994667"/>
            <a:chOff x="0" y="0"/>
            <a:chExt cx="22954831" cy="13262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" y="2450592"/>
            <a:ext cx="1316736" cy="969264"/>
            <a:chOff x="0" y="0"/>
            <a:chExt cx="1755648" cy="12923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98983" y="2657351"/>
            <a:ext cx="61979" cy="574043"/>
            <a:chOff x="0" y="0"/>
            <a:chExt cx="82639" cy="7653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194560" y="2450592"/>
            <a:ext cx="15361920" cy="969264"/>
            <a:chOff x="0" y="0"/>
            <a:chExt cx="20482560" cy="12923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Pipeline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classification models trained; best auto-selected by ROC-AUC; batch customer scoring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35943" y="3516887"/>
            <a:ext cx="17216123" cy="994667"/>
            <a:chOff x="0" y="0"/>
            <a:chExt cx="22954831" cy="13262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" y="3529584"/>
            <a:ext cx="1316736" cy="969264"/>
            <a:chOff x="0" y="0"/>
            <a:chExt cx="1755648" cy="12923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98983" y="3736343"/>
            <a:ext cx="61979" cy="574043"/>
            <a:chOff x="0" y="0"/>
            <a:chExt cx="82639" cy="7653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194560" y="3529584"/>
            <a:ext cx="15361920" cy="969264"/>
            <a:chOff x="0" y="0"/>
            <a:chExt cx="20482560" cy="12923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Retention Offer Engine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7-strategy personalised recommendation engine mapped to customer risk profiles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35943" y="4595879"/>
            <a:ext cx="17216123" cy="994667"/>
            <a:chOff x="0" y="0"/>
            <a:chExt cx="22954831" cy="13262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" y="4608576"/>
            <a:ext cx="1316736" cy="969264"/>
            <a:chOff x="0" y="0"/>
            <a:chExt cx="1755648" cy="12923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98983" y="4815335"/>
            <a:ext cx="61979" cy="574043"/>
            <a:chOff x="0" y="0"/>
            <a:chExt cx="82639" cy="7653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2194560" y="4608576"/>
            <a:ext cx="15361920" cy="969264"/>
            <a:chOff x="0" y="0"/>
            <a:chExt cx="20482560" cy="12923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Dashboard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5-page interactive dashboard: Executive, Churn Predictor, At-Risk, Model Performance, Admin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5943" y="5674871"/>
            <a:ext cx="17216123" cy="994667"/>
            <a:chOff x="0" y="0"/>
            <a:chExt cx="22954831" cy="132622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5687568"/>
            <a:ext cx="1316736" cy="969264"/>
            <a:chOff x="0" y="0"/>
            <a:chExt cx="1755648" cy="12923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🔐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98983" y="5894327"/>
            <a:ext cx="61979" cy="574043"/>
            <a:chOff x="0" y="0"/>
            <a:chExt cx="82639" cy="7653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2194560" y="5687568"/>
            <a:ext cx="15361920" cy="969264"/>
            <a:chOff x="0" y="0"/>
            <a:chExt cx="20482560" cy="12923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 System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PBKDF2-SHA256 hashing, session management, complete access logging to CSV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6753863"/>
            <a:ext cx="17216123" cy="994667"/>
            <a:chOff x="0" y="0"/>
            <a:chExt cx="22954831" cy="13262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F0F9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31520" y="6766560"/>
            <a:ext cx="1316736" cy="969264"/>
            <a:chOff x="0" y="0"/>
            <a:chExt cx="1755648" cy="12923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98983" y="6973319"/>
            <a:ext cx="61979" cy="574043"/>
            <a:chOff x="0" y="0"/>
            <a:chExt cx="82639" cy="7653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2194560" y="6766560"/>
            <a:ext cx="15361920" cy="969264"/>
            <a:chOff x="0" y="0"/>
            <a:chExt cx="20482560" cy="12923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 Integration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Enterprise-scale distributed processing supporting 1M+ records in cluster mode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35943" y="7832855"/>
            <a:ext cx="17216123" cy="994667"/>
            <a:chOff x="0" y="0"/>
            <a:chExt cx="22954831" cy="13262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954869" cy="1326261"/>
            </a:xfrm>
            <a:custGeom>
              <a:avLst/>
              <a:gdLst/>
              <a:ahLst/>
              <a:cxnLst/>
              <a:rect r="r" b="b" t="t" l="l"/>
              <a:pathLst>
                <a:path h="1326261" w="22954869">
                  <a:moveTo>
                    <a:pt x="0" y="125095"/>
                  </a:moveTo>
                  <a:cubicBezTo>
                    <a:pt x="0" y="56007"/>
                    <a:pt x="56007" y="0"/>
                    <a:pt x="125095" y="0"/>
                  </a:cubicBezTo>
                  <a:lnTo>
                    <a:pt x="22829774" y="0"/>
                  </a:lnTo>
                  <a:cubicBezTo>
                    <a:pt x="22898863" y="0"/>
                    <a:pt x="22954869" y="56007"/>
                    <a:pt x="22954869" y="125095"/>
                  </a:cubicBezTo>
                  <a:lnTo>
                    <a:pt x="22954869" y="1201166"/>
                  </a:lnTo>
                  <a:cubicBezTo>
                    <a:pt x="22954869" y="1270254"/>
                    <a:pt x="22898863" y="1326261"/>
                    <a:pt x="22829774" y="1326261"/>
                  </a:cubicBezTo>
                  <a:lnTo>
                    <a:pt x="125095" y="1326261"/>
                  </a:lnTo>
                  <a:cubicBezTo>
                    <a:pt x="56007" y="1326261"/>
                    <a:pt x="0" y="1270254"/>
                    <a:pt x="0" y="1201166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31520" y="7845552"/>
            <a:ext cx="1316736" cy="969264"/>
            <a:chOff x="0" y="0"/>
            <a:chExt cx="1755648" cy="12923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55648" cy="1292352"/>
            </a:xfrm>
            <a:custGeom>
              <a:avLst/>
              <a:gdLst/>
              <a:ahLst/>
              <a:cxnLst/>
              <a:rect r="r" b="b" t="t" l="l"/>
              <a:pathLst>
                <a:path h="129235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445" t="0" r="-44445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755648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98983" y="8052311"/>
            <a:ext cx="61979" cy="574043"/>
            <a:chOff x="0" y="0"/>
            <a:chExt cx="82639" cy="7653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2677" cy="765429"/>
            </a:xfrm>
            <a:custGeom>
              <a:avLst/>
              <a:gdLst/>
              <a:ahLst/>
              <a:cxnLst/>
              <a:rect r="r" b="b" t="t" l="l"/>
              <a:pathLst>
                <a:path h="765429" w="82677">
                  <a:moveTo>
                    <a:pt x="0" y="0"/>
                  </a:moveTo>
                  <a:lnTo>
                    <a:pt x="82677" y="0"/>
                  </a:lnTo>
                  <a:lnTo>
                    <a:pt x="82677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2194560" y="7845552"/>
            <a:ext cx="15361920" cy="969264"/>
            <a:chOff x="0" y="0"/>
            <a:chExt cx="20482560" cy="12923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482561" cy="1292352"/>
            </a:xfrm>
            <a:custGeom>
              <a:avLst/>
              <a:gdLst/>
              <a:ahLst/>
              <a:cxnLst/>
              <a:rect r="r" b="b" t="t" l="l"/>
              <a:pathLst>
                <a:path h="1292352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92352"/>
                  </a:lnTo>
                  <a:lnTo>
                    <a:pt x="0" y="1292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819" r="0" b="-25881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0482560" cy="13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Comprehensive Test Suite  </a:t>
              </a: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48 unit tests across 9 test classes — 100% pass rate achieved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Used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1316736"/>
          <a:ext cx="17145000" cy="7315200"/>
        </p:xfrm>
        <a:graphic>
          <a:graphicData uri="http://schemas.openxmlformats.org/drawingml/2006/table">
            <a:tbl>
              <a:tblPr/>
              <a:tblGrid>
                <a:gridCol w="4020172"/>
                <a:gridCol w="9649422"/>
                <a:gridCol w="3475406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Component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Technology / Framework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Frontend / Dashboard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Streamlit (Python-based web UI framework)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1.35+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Visualisation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Plotly Express and Plotly Graph Objects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5.20+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Backend Language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3.11+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Processing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Pandas, NumPy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Big Data Processing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Apache PySpark (local and cluster mode)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Machine Learning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scikit-learn, XGBoost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1.4 / 2.0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Database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PostgreSQL via SQLAlchemy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 / 2.0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Authentication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PBKDF2-SHA256 (Python hashlib), st.session_state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pytest, pytest-cov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8.0+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 Control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 and GitHub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IBM Telco Customer Churn — Kaggle (7,043 records)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Requirements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1316736"/>
          <a:ext cx="17170400" cy="7543800"/>
        </p:xfrm>
        <a:graphic>
          <a:graphicData uri="http://schemas.openxmlformats.org/drawingml/2006/table">
            <a:tbl>
              <a:tblPr/>
              <a:tblGrid>
                <a:gridCol w="1571049"/>
                <a:gridCol w="2480337"/>
                <a:gridCol w="13119014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Requirement 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Extract data from IBM Telco CSV; validate all 21 required columns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Clean data: fix TotalCharges type, impute median, remove duplicates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Engineer features: tenure_group, RevenueCategory, AnnualRevenue, LoyaltyScore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ETL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Load cleaned and scored data to PostgreSQL in two tables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3 ML models; auto-select best by ROC-AUC 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Score all customers with ChurnProbability and ChurnRisk (High/Medium/Low)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Recommend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Generate personalised retention offers for at-risk customers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Display KPIs, charts, and at-risk lists across 5 Streamlit pages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Authenticate users with PBKDF2-SHA256 hashed passwords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FR-10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Admin: add/delete users, change passwords, view complete access log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UML Diagrams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1371600"/>
            <a:ext cx="5632704" cy="3566160"/>
            <a:chOff x="0" y="0"/>
            <a:chExt cx="7510272" cy="4754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10272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1027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266432" y="0"/>
                  </a:lnTo>
                  <a:cubicBezTo>
                    <a:pt x="7401051" y="0"/>
                    <a:pt x="7510272" y="109220"/>
                    <a:pt x="7510272" y="243840"/>
                  </a:cubicBezTo>
                  <a:lnTo>
                    <a:pt x="7510272" y="4511040"/>
                  </a:lnTo>
                  <a:cubicBezTo>
                    <a:pt x="7510272" y="4645660"/>
                    <a:pt x="7401051" y="4754880"/>
                    <a:pt x="7266432" y="4754880"/>
                  </a:cubicBezTo>
                  <a:lnTo>
                    <a:pt x="243840" y="4754880"/>
                  </a:lnTo>
                  <a:cubicBezTo>
                    <a:pt x="109220" y="4754880"/>
                    <a:pt x="0" y="4645660"/>
                    <a:pt x="0" y="4511040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00535" y="1614935"/>
            <a:ext cx="5146043" cy="665483"/>
            <a:chOff x="0" y="0"/>
            <a:chExt cx="6861391" cy="887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61556" cy="887476"/>
            </a:xfrm>
            <a:custGeom>
              <a:avLst/>
              <a:gdLst/>
              <a:ahLst/>
              <a:cxnLst/>
              <a:rect r="r" b="b" t="t" l="l"/>
              <a:pathLst>
                <a:path h="887476" w="6861556">
                  <a:moveTo>
                    <a:pt x="0" y="101473"/>
                  </a:moveTo>
                  <a:cubicBezTo>
                    <a:pt x="0" y="45466"/>
                    <a:pt x="45466" y="0"/>
                    <a:pt x="101473" y="0"/>
                  </a:cubicBezTo>
                  <a:lnTo>
                    <a:pt x="6760083" y="0"/>
                  </a:lnTo>
                  <a:cubicBezTo>
                    <a:pt x="6816090" y="0"/>
                    <a:pt x="6861556" y="45466"/>
                    <a:pt x="6861556" y="101473"/>
                  </a:cubicBezTo>
                  <a:lnTo>
                    <a:pt x="6861556" y="786003"/>
                  </a:lnTo>
                  <a:cubicBezTo>
                    <a:pt x="6861556" y="842010"/>
                    <a:pt x="6816090" y="887476"/>
                    <a:pt x="6760083" y="887476"/>
                  </a:cubicBezTo>
                  <a:lnTo>
                    <a:pt x="101473" y="887476"/>
                  </a:lnTo>
                  <a:cubicBezTo>
                    <a:pt x="45466" y="887349"/>
                    <a:pt x="0" y="841883"/>
                    <a:pt x="0" y="785876"/>
                  </a:cubicBezTo>
                  <a:close/>
                </a:path>
              </a:pathLst>
            </a:custGeom>
            <a:solidFill>
              <a:srgbClr val="06B6D4">
                <a:alpha val="5882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13232" y="1627632"/>
            <a:ext cx="5120640" cy="640080"/>
            <a:chOff x="0" y="0"/>
            <a:chExt cx="682752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Case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4672" y="2403348"/>
            <a:ext cx="493776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Actors: User (login, dashboard, predictor, export) and Admin (all user actions + ETL execution, user management, access log)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345936" y="1371600"/>
            <a:ext cx="5632704" cy="3566160"/>
            <a:chOff x="0" y="0"/>
            <a:chExt cx="7510272" cy="4754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10272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1027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266432" y="0"/>
                  </a:lnTo>
                  <a:cubicBezTo>
                    <a:pt x="7401051" y="0"/>
                    <a:pt x="7510272" y="109220"/>
                    <a:pt x="7510272" y="243840"/>
                  </a:cubicBezTo>
                  <a:lnTo>
                    <a:pt x="7510272" y="4511040"/>
                  </a:lnTo>
                  <a:cubicBezTo>
                    <a:pt x="7510272" y="4645660"/>
                    <a:pt x="7401051" y="4754880"/>
                    <a:pt x="7266432" y="4754880"/>
                  </a:cubicBezTo>
                  <a:lnTo>
                    <a:pt x="243840" y="4754880"/>
                  </a:lnTo>
                  <a:cubicBezTo>
                    <a:pt x="109220" y="4754880"/>
                    <a:pt x="0" y="4645660"/>
                    <a:pt x="0" y="4511040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589271" y="1614935"/>
            <a:ext cx="5146043" cy="665483"/>
            <a:chOff x="0" y="0"/>
            <a:chExt cx="6861391" cy="8873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61556" cy="887476"/>
            </a:xfrm>
            <a:custGeom>
              <a:avLst/>
              <a:gdLst/>
              <a:ahLst/>
              <a:cxnLst/>
              <a:rect r="r" b="b" t="t" l="l"/>
              <a:pathLst>
                <a:path h="887476" w="6861556">
                  <a:moveTo>
                    <a:pt x="0" y="101473"/>
                  </a:moveTo>
                  <a:cubicBezTo>
                    <a:pt x="0" y="45466"/>
                    <a:pt x="45466" y="0"/>
                    <a:pt x="101473" y="0"/>
                  </a:cubicBezTo>
                  <a:lnTo>
                    <a:pt x="6760083" y="0"/>
                  </a:lnTo>
                  <a:cubicBezTo>
                    <a:pt x="6816090" y="0"/>
                    <a:pt x="6861556" y="45466"/>
                    <a:pt x="6861556" y="101473"/>
                  </a:cubicBezTo>
                  <a:lnTo>
                    <a:pt x="6861556" y="786003"/>
                  </a:lnTo>
                  <a:cubicBezTo>
                    <a:pt x="6861556" y="842010"/>
                    <a:pt x="6816090" y="887476"/>
                    <a:pt x="6760083" y="887476"/>
                  </a:cubicBezTo>
                  <a:lnTo>
                    <a:pt x="101473" y="887476"/>
                  </a:lnTo>
                  <a:cubicBezTo>
                    <a:pt x="45466" y="887349"/>
                    <a:pt x="0" y="841883"/>
                    <a:pt x="0" y="785876"/>
                  </a:cubicBezTo>
                  <a:close/>
                </a:path>
              </a:pathLst>
            </a:custGeom>
            <a:solidFill>
              <a:srgbClr val="06B6D4">
                <a:alpha val="5882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601968" y="1627632"/>
            <a:ext cx="5120640" cy="640080"/>
            <a:chOff x="0" y="0"/>
            <a:chExt cx="682752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Diagram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93408" y="2403348"/>
            <a:ext cx="493776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8 core classes: DataExtractor, DataTransformer, DataLoader, ModelTrainer, ChurnPredictor, OfferEngine, AuthManager, SparkETL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34672" y="5212080"/>
            <a:ext cx="5632704" cy="3566160"/>
            <a:chOff x="0" y="0"/>
            <a:chExt cx="7510272" cy="4754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10272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1027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266432" y="0"/>
                  </a:lnTo>
                  <a:cubicBezTo>
                    <a:pt x="7401051" y="0"/>
                    <a:pt x="7510272" y="109220"/>
                    <a:pt x="7510272" y="243840"/>
                  </a:cubicBezTo>
                  <a:lnTo>
                    <a:pt x="7510272" y="4511040"/>
                  </a:lnTo>
                  <a:cubicBezTo>
                    <a:pt x="7510272" y="4645660"/>
                    <a:pt x="7401051" y="4754880"/>
                    <a:pt x="7266432" y="4754880"/>
                  </a:cubicBezTo>
                  <a:lnTo>
                    <a:pt x="243840" y="4754880"/>
                  </a:lnTo>
                  <a:cubicBezTo>
                    <a:pt x="109220" y="4754880"/>
                    <a:pt x="0" y="4645660"/>
                    <a:pt x="0" y="4511040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78007" y="5455415"/>
            <a:ext cx="5146043" cy="665483"/>
            <a:chOff x="0" y="0"/>
            <a:chExt cx="6861391" cy="8873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61556" cy="887476"/>
            </a:xfrm>
            <a:custGeom>
              <a:avLst/>
              <a:gdLst/>
              <a:ahLst/>
              <a:cxnLst/>
              <a:rect r="r" b="b" t="t" l="l"/>
              <a:pathLst>
                <a:path h="887476" w="6861556">
                  <a:moveTo>
                    <a:pt x="0" y="101473"/>
                  </a:moveTo>
                  <a:cubicBezTo>
                    <a:pt x="0" y="45466"/>
                    <a:pt x="45466" y="0"/>
                    <a:pt x="101473" y="0"/>
                  </a:cubicBezTo>
                  <a:lnTo>
                    <a:pt x="6760083" y="0"/>
                  </a:lnTo>
                  <a:cubicBezTo>
                    <a:pt x="6816090" y="0"/>
                    <a:pt x="6861556" y="45466"/>
                    <a:pt x="6861556" y="101473"/>
                  </a:cubicBezTo>
                  <a:lnTo>
                    <a:pt x="6861556" y="786003"/>
                  </a:lnTo>
                  <a:cubicBezTo>
                    <a:pt x="6861556" y="842010"/>
                    <a:pt x="6816090" y="887476"/>
                    <a:pt x="6760083" y="887476"/>
                  </a:cubicBezTo>
                  <a:lnTo>
                    <a:pt x="101473" y="887476"/>
                  </a:lnTo>
                  <a:cubicBezTo>
                    <a:pt x="45466" y="887349"/>
                    <a:pt x="0" y="841883"/>
                    <a:pt x="0" y="785876"/>
                  </a:cubicBezTo>
                  <a:close/>
                </a:path>
              </a:pathLst>
            </a:custGeom>
            <a:solidFill>
              <a:srgbClr val="06B6D4">
                <a:alpha val="5882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490704" y="5468112"/>
            <a:ext cx="5120640" cy="640080"/>
            <a:chOff x="0" y="0"/>
            <a:chExt cx="68275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Activity Diagram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582144" y="6243828"/>
            <a:ext cx="493776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ETL flow: CSV extract → validate → backup → clean → feature engineering → ML training → scoring → offers → PostgreSQL load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57200" y="5212080"/>
            <a:ext cx="5632704" cy="3566160"/>
            <a:chOff x="0" y="0"/>
            <a:chExt cx="7510272" cy="4754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10272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1027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266432" y="0"/>
                  </a:lnTo>
                  <a:cubicBezTo>
                    <a:pt x="7401051" y="0"/>
                    <a:pt x="7510272" y="109220"/>
                    <a:pt x="7510272" y="243840"/>
                  </a:cubicBezTo>
                  <a:lnTo>
                    <a:pt x="7510272" y="4511040"/>
                  </a:lnTo>
                  <a:cubicBezTo>
                    <a:pt x="7510272" y="4645660"/>
                    <a:pt x="7401051" y="4754880"/>
                    <a:pt x="7266432" y="4754880"/>
                  </a:cubicBezTo>
                  <a:lnTo>
                    <a:pt x="243840" y="4754880"/>
                  </a:lnTo>
                  <a:cubicBezTo>
                    <a:pt x="109220" y="4754880"/>
                    <a:pt x="0" y="4645660"/>
                    <a:pt x="0" y="4511040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00535" y="5455415"/>
            <a:ext cx="5146043" cy="665483"/>
            <a:chOff x="0" y="0"/>
            <a:chExt cx="6861391" cy="8873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61556" cy="887476"/>
            </a:xfrm>
            <a:custGeom>
              <a:avLst/>
              <a:gdLst/>
              <a:ahLst/>
              <a:cxnLst/>
              <a:rect r="r" b="b" t="t" l="l"/>
              <a:pathLst>
                <a:path h="887476" w="6861556">
                  <a:moveTo>
                    <a:pt x="0" y="101473"/>
                  </a:moveTo>
                  <a:cubicBezTo>
                    <a:pt x="0" y="45466"/>
                    <a:pt x="45466" y="0"/>
                    <a:pt x="101473" y="0"/>
                  </a:cubicBezTo>
                  <a:lnTo>
                    <a:pt x="6760083" y="0"/>
                  </a:lnTo>
                  <a:cubicBezTo>
                    <a:pt x="6816090" y="0"/>
                    <a:pt x="6861556" y="45466"/>
                    <a:pt x="6861556" y="101473"/>
                  </a:cubicBezTo>
                  <a:lnTo>
                    <a:pt x="6861556" y="786003"/>
                  </a:lnTo>
                  <a:cubicBezTo>
                    <a:pt x="6861556" y="842010"/>
                    <a:pt x="6816090" y="887476"/>
                    <a:pt x="6760083" y="887476"/>
                  </a:cubicBezTo>
                  <a:lnTo>
                    <a:pt x="101473" y="887476"/>
                  </a:lnTo>
                  <a:cubicBezTo>
                    <a:pt x="45466" y="887349"/>
                    <a:pt x="0" y="841883"/>
                    <a:pt x="0" y="785876"/>
                  </a:cubicBezTo>
                  <a:close/>
                </a:path>
              </a:pathLst>
            </a:custGeom>
            <a:solidFill>
              <a:srgbClr val="06B6D4">
                <a:alpha val="5882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3232" y="5468112"/>
            <a:ext cx="5120640" cy="640080"/>
            <a:chOff x="0" y="0"/>
            <a:chExt cx="682752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Sequence Diagram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04672" y="6243828"/>
            <a:ext cx="493776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Login sequence (PBKDF2 verify → log) and Prediction sequence (predict_proba() → offer card → gauge chart → dashboard)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327648" y="5212080"/>
            <a:ext cx="5632704" cy="3566160"/>
            <a:chOff x="0" y="0"/>
            <a:chExt cx="7510272" cy="475488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7510272" cy="4754880"/>
              <a:chOff x="0" y="0"/>
              <a:chExt cx="7510272" cy="475488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510272" cy="4754880"/>
              </a:xfrm>
              <a:custGeom>
                <a:avLst/>
                <a:gdLst/>
                <a:ahLst/>
                <a:cxnLst/>
                <a:rect r="r" b="b" t="t" l="l"/>
                <a:pathLst>
                  <a:path h="4754880" w="7510272">
                    <a:moveTo>
                      <a:pt x="0" y="243840"/>
                    </a:moveTo>
                    <a:cubicBezTo>
                      <a:pt x="0" y="109220"/>
                      <a:pt x="109220" y="0"/>
                      <a:pt x="243840" y="0"/>
                    </a:cubicBezTo>
                    <a:lnTo>
                      <a:pt x="7266432" y="0"/>
                    </a:lnTo>
                    <a:cubicBezTo>
                      <a:pt x="7401051" y="0"/>
                      <a:pt x="7510272" y="109220"/>
                      <a:pt x="7510272" y="243840"/>
                    </a:cubicBezTo>
                    <a:lnTo>
                      <a:pt x="7510272" y="4511040"/>
                    </a:lnTo>
                    <a:cubicBezTo>
                      <a:pt x="7510272" y="4645660"/>
                      <a:pt x="7401051" y="4754880"/>
                      <a:pt x="7266432" y="4754880"/>
                    </a:cubicBezTo>
                    <a:lnTo>
                      <a:pt x="243840" y="4754880"/>
                    </a:lnTo>
                    <a:cubicBezTo>
                      <a:pt x="109220" y="4754880"/>
                      <a:pt x="0" y="4645660"/>
                      <a:pt x="0" y="4511040"/>
                    </a:cubicBezTo>
                    <a:close/>
                  </a:path>
                </a:pathLst>
              </a:custGeom>
              <a:solidFill>
                <a:srgbClr val="0B1120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341376" y="341376"/>
              <a:ext cx="6827520" cy="853440"/>
              <a:chOff x="0" y="0"/>
              <a:chExt cx="6827520" cy="85344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8275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880" r="0" b="-105880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68275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6B6D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Component Diagram</a:t>
                </a: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63296" y="1388364"/>
              <a:ext cx="6583680" cy="308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layers: processing (CSV→extract→transform→train), logic (load→predict→recommend→auth→app), storage (DB / model / log files)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70978" y="5455406"/>
            <a:ext cx="5146043" cy="652786"/>
            <a:chOff x="0" y="0"/>
            <a:chExt cx="6861391" cy="87038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61556" cy="870547"/>
            </a:xfrm>
            <a:custGeom>
              <a:avLst/>
              <a:gdLst/>
              <a:ahLst/>
              <a:cxnLst/>
              <a:rect r="r" b="b" t="t" l="l"/>
              <a:pathLst>
                <a:path h="870547" w="6861556">
                  <a:moveTo>
                    <a:pt x="0" y="99537"/>
                  </a:moveTo>
                  <a:cubicBezTo>
                    <a:pt x="0" y="44599"/>
                    <a:pt x="45466" y="0"/>
                    <a:pt x="101473" y="0"/>
                  </a:cubicBezTo>
                  <a:lnTo>
                    <a:pt x="6760083" y="0"/>
                  </a:lnTo>
                  <a:cubicBezTo>
                    <a:pt x="6816090" y="0"/>
                    <a:pt x="6861556" y="44599"/>
                    <a:pt x="6861556" y="99537"/>
                  </a:cubicBezTo>
                  <a:lnTo>
                    <a:pt x="6861556" y="771007"/>
                  </a:lnTo>
                  <a:cubicBezTo>
                    <a:pt x="6861556" y="825945"/>
                    <a:pt x="6816090" y="870547"/>
                    <a:pt x="6760083" y="870547"/>
                  </a:cubicBezTo>
                  <a:lnTo>
                    <a:pt x="101473" y="870547"/>
                  </a:lnTo>
                  <a:cubicBezTo>
                    <a:pt x="45466" y="870420"/>
                    <a:pt x="0" y="825821"/>
                    <a:pt x="0" y="770882"/>
                  </a:cubicBezTo>
                  <a:close/>
                </a:path>
              </a:pathLst>
            </a:custGeom>
            <a:solidFill>
              <a:srgbClr val="06B6D4">
                <a:alpha val="5882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234672" y="1371600"/>
            <a:ext cx="5632704" cy="3566160"/>
            <a:chOff x="0" y="0"/>
            <a:chExt cx="7510272" cy="4754880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7510272" cy="4754880"/>
              <a:chOff x="0" y="0"/>
              <a:chExt cx="7510272" cy="475488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7510272" cy="4754880"/>
              </a:xfrm>
              <a:custGeom>
                <a:avLst/>
                <a:gdLst/>
                <a:ahLst/>
                <a:cxnLst/>
                <a:rect r="r" b="b" t="t" l="l"/>
                <a:pathLst>
                  <a:path h="4754880" w="7510272">
                    <a:moveTo>
                      <a:pt x="0" y="243840"/>
                    </a:moveTo>
                    <a:cubicBezTo>
                      <a:pt x="0" y="109220"/>
                      <a:pt x="109220" y="0"/>
                      <a:pt x="243840" y="0"/>
                    </a:cubicBezTo>
                    <a:lnTo>
                      <a:pt x="7266432" y="0"/>
                    </a:lnTo>
                    <a:cubicBezTo>
                      <a:pt x="7401051" y="0"/>
                      <a:pt x="7510272" y="109220"/>
                      <a:pt x="7510272" y="243840"/>
                    </a:cubicBezTo>
                    <a:lnTo>
                      <a:pt x="7510272" y="4511040"/>
                    </a:lnTo>
                    <a:cubicBezTo>
                      <a:pt x="7510272" y="4645660"/>
                      <a:pt x="7401051" y="4754880"/>
                      <a:pt x="7266432" y="4754880"/>
                    </a:cubicBezTo>
                    <a:lnTo>
                      <a:pt x="243840" y="4754880"/>
                    </a:lnTo>
                    <a:cubicBezTo>
                      <a:pt x="109220" y="4754880"/>
                      <a:pt x="0" y="4645660"/>
                      <a:pt x="0" y="4511040"/>
                    </a:cubicBezTo>
                    <a:close/>
                  </a:path>
                </a:pathLst>
              </a:custGeom>
              <a:solidFill>
                <a:srgbClr val="0B1120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324447" y="324447"/>
              <a:ext cx="6861391" cy="887311"/>
              <a:chOff x="0" y="0"/>
              <a:chExt cx="6861391" cy="88731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6861556" cy="887476"/>
              </a:xfrm>
              <a:custGeom>
                <a:avLst/>
                <a:gdLst/>
                <a:ahLst/>
                <a:cxnLst/>
                <a:rect r="r" b="b" t="t" l="l"/>
                <a:pathLst>
                  <a:path h="887476" w="6861556">
                    <a:moveTo>
                      <a:pt x="0" y="101473"/>
                    </a:moveTo>
                    <a:cubicBezTo>
                      <a:pt x="0" y="45466"/>
                      <a:pt x="45466" y="0"/>
                      <a:pt x="101473" y="0"/>
                    </a:cubicBezTo>
                    <a:lnTo>
                      <a:pt x="6760083" y="0"/>
                    </a:lnTo>
                    <a:cubicBezTo>
                      <a:pt x="6816090" y="0"/>
                      <a:pt x="6861556" y="45466"/>
                      <a:pt x="6861556" y="101473"/>
                    </a:cubicBezTo>
                    <a:lnTo>
                      <a:pt x="6861556" y="786003"/>
                    </a:lnTo>
                    <a:cubicBezTo>
                      <a:pt x="6861556" y="842010"/>
                      <a:pt x="6816090" y="887476"/>
                      <a:pt x="6760083" y="887476"/>
                    </a:cubicBezTo>
                    <a:lnTo>
                      <a:pt x="101473" y="887476"/>
                    </a:lnTo>
                    <a:cubicBezTo>
                      <a:pt x="45466" y="887349"/>
                      <a:pt x="0" y="841883"/>
                      <a:pt x="0" y="785876"/>
                    </a:cubicBezTo>
                    <a:close/>
                  </a:path>
                </a:pathLst>
              </a:custGeom>
              <a:solidFill>
                <a:srgbClr val="06B6D4">
                  <a:alpha val="5882"/>
                </a:srgbClr>
              </a:solidFill>
              <a:ln w="25400" cap="sq">
                <a:solidFill>
                  <a:srgbClr val="06B6D4"/>
                </a:solidFill>
                <a:prstDash val="solid"/>
                <a:miter/>
              </a:ln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352552" y="341382"/>
              <a:ext cx="6827520" cy="853440"/>
              <a:chOff x="0" y="0"/>
              <a:chExt cx="6827520" cy="85344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68275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880" r="0" b="-105880"/>
                </a:stretch>
              </a:blip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68275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6B6D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Module Hierarchy</a:t>
                </a: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463296" y="1388364"/>
              <a:ext cx="6583680" cy="308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top-level subsystems: ETL Layer, ML Layer, App Layer, Auth Layer — each decomposed to individual functions and methods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 Diagram &amp; Database Design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1316736"/>
            <a:ext cx="16824960" cy="548640"/>
            <a:chOff x="0" y="0"/>
            <a:chExt cx="224332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PostgreSQL analytical store: two tables + users.json credentials + logs/access_log.csv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920240"/>
            <a:ext cx="8412480" cy="548640"/>
            <a:chOff x="0" y="0"/>
            <a:chExt cx="112166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216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customer_churn_raw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548640" y="2468880"/>
          <a:ext cx="8458200" cy="5029200"/>
        </p:xfrm>
        <a:graphic>
          <a:graphicData uri="http://schemas.openxmlformats.org/drawingml/2006/table">
            <a:tbl>
              <a:tblPr/>
              <a:tblGrid>
                <a:gridCol w="2271831"/>
                <a:gridCol w="1912332"/>
                <a:gridCol w="1642708"/>
                <a:gridCol w="2631329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Constraint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7-char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gender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Male or Female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SeniorCitizen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SMALLINT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= No, 1 = Yes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tenure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Months with company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 billing $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Cumulative 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Contract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Contract 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 / No (raw)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9326880" y="1920240"/>
            <a:ext cx="8412480" cy="548640"/>
            <a:chOff x="0" y="0"/>
            <a:chExt cx="112166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216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customer_churn_cleaned (key columns)</a:t>
              </a: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326880" y="2468880"/>
          <a:ext cx="8382000" cy="5588000"/>
        </p:xfrm>
        <a:graphic>
          <a:graphicData uri="http://schemas.openxmlformats.org/drawingml/2006/table">
            <a:tbl>
              <a:tblPr/>
              <a:tblGrid>
                <a:gridCol w="2553224"/>
                <a:gridCol w="2011479"/>
                <a:gridCol w="3817296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VARCHAR(50)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KEY — unique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SMALLINT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= Churned, 0 = Retained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tenure_group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0-1yr, 1-2yr, 2-4yr, 4-6yr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RevenueCategory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/ Medium / 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AnnualRevenue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MonthlyCharges × 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LoyaltyScore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Normalised tenure 0.0–1.0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ChurnProbability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 predicted probability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ChurnRisk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/ Medium / High 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OfferTitle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VARCHAR(100)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Recommended retention offer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3" id="2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Dictionary — Key Fields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1316736"/>
          <a:ext cx="17145000" cy="7620000"/>
        </p:xfrm>
        <a:graphic>
          <a:graphicData uri="http://schemas.openxmlformats.org/drawingml/2006/table">
            <a:tbl>
              <a:tblPr/>
              <a:tblGrid>
                <a:gridCol w="2835674"/>
                <a:gridCol w="1929064"/>
                <a:gridCol w="2926335"/>
                <a:gridCol w="9453926"/>
              </a:tblGrid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Field Name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Range / Values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7-character alphanumeric ID assigned to each 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tenure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– 72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months the customer has been with the company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18.25 – 118.75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Amount charged to the customer monthly in USD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18.85 – 8684.8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amount charged; blank entries imputed with median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Binary Int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or 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 variable: 1 = churned, 0 = retained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ChurnProbability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 – 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ML-predicted probability of churn for each 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ChurnRisk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Low/Med/High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&lt; 35%, Medium 35–65%, High &gt; 65%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LoyaltyScore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 – 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Normalised tenure: tenure divided by maximum tenure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AnnualRevenue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219 – 1425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Projected annual revenue: MonthlyCharges × 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RevenueCategory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Low/Med/High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&lt; ₹35, Medium ₹35–70, High &gt; ₹70 monthly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OfferTitle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 offer types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Recommended retention offer for each at-risk 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182880"/>
            <a:ext cx="17282160" cy="9354219"/>
            <a:chOff x="0" y="0"/>
            <a:chExt cx="23042880" cy="124722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552116" y="1028700"/>
              <a:ext cx="15490764" cy="11443592"/>
              <a:chOff x="0" y="0"/>
              <a:chExt cx="15490764" cy="1144359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5490765" cy="11443592"/>
              </a:xfrm>
              <a:custGeom>
                <a:avLst/>
                <a:gdLst/>
                <a:ahLst/>
                <a:cxnLst/>
                <a:rect r="r" b="b" t="t" l="l"/>
                <a:pathLst>
                  <a:path h="11443592" w="15490765">
                    <a:moveTo>
                      <a:pt x="0" y="564121"/>
                    </a:moveTo>
                    <a:cubicBezTo>
                      <a:pt x="0" y="252679"/>
                      <a:pt x="104452" y="0"/>
                      <a:pt x="233194" y="0"/>
                    </a:cubicBezTo>
                    <a:lnTo>
                      <a:pt x="15257569" y="0"/>
                    </a:lnTo>
                    <a:cubicBezTo>
                      <a:pt x="15386312" y="0"/>
                      <a:pt x="15490765" y="252679"/>
                      <a:pt x="15490765" y="564121"/>
                    </a:cubicBezTo>
                    <a:lnTo>
                      <a:pt x="15490765" y="10879472"/>
                    </a:lnTo>
                    <a:cubicBezTo>
                      <a:pt x="15490765" y="11190914"/>
                      <a:pt x="15386312" y="11443592"/>
                      <a:pt x="15257569" y="11443592"/>
                    </a:cubicBezTo>
                    <a:lnTo>
                      <a:pt x="233194" y="11443592"/>
                    </a:lnTo>
                    <a:cubicBezTo>
                      <a:pt x="104452" y="11443592"/>
                      <a:pt x="0" y="11190913"/>
                      <a:pt x="0" y="10879472"/>
                    </a:cubicBezTo>
                    <a:close/>
                  </a:path>
                </a:pathLst>
              </a:custGeom>
              <a:solidFill>
                <a:srgbClr val="0B112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1028700"/>
              <a:ext cx="7344755" cy="11443592"/>
              <a:chOff x="0" y="0"/>
              <a:chExt cx="7344755" cy="1144359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344755" cy="11443592"/>
              </a:xfrm>
              <a:custGeom>
                <a:avLst/>
                <a:gdLst/>
                <a:ahLst/>
                <a:cxnLst/>
                <a:rect r="r" b="b" t="t" l="l"/>
                <a:pathLst>
                  <a:path h="11443592" w="7344755">
                    <a:moveTo>
                      <a:pt x="0" y="564121"/>
                    </a:moveTo>
                    <a:cubicBezTo>
                      <a:pt x="0" y="252679"/>
                      <a:pt x="49524" y="0"/>
                      <a:pt x="110566" y="0"/>
                    </a:cubicBezTo>
                    <a:lnTo>
                      <a:pt x="7234188" y="0"/>
                    </a:lnTo>
                    <a:cubicBezTo>
                      <a:pt x="7295230" y="0"/>
                      <a:pt x="7344755" y="252679"/>
                      <a:pt x="7344755" y="564121"/>
                    </a:cubicBezTo>
                    <a:lnTo>
                      <a:pt x="7344755" y="10879472"/>
                    </a:lnTo>
                    <a:cubicBezTo>
                      <a:pt x="7344755" y="11190914"/>
                      <a:pt x="7295230" y="11443592"/>
                      <a:pt x="7234188" y="11443592"/>
                    </a:cubicBezTo>
                    <a:lnTo>
                      <a:pt x="110566" y="11443592"/>
                    </a:lnTo>
                    <a:cubicBezTo>
                      <a:pt x="49524" y="11443592"/>
                      <a:pt x="0" y="11190913"/>
                      <a:pt x="0" y="10879472"/>
                    </a:cubicBezTo>
                    <a:close/>
                  </a:path>
                </a:pathLst>
              </a:custGeom>
              <a:solidFill>
                <a:srgbClr val="0B1120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335280" y="1242952"/>
              <a:ext cx="6704675" cy="9921240"/>
              <a:chOff x="0" y="0"/>
              <a:chExt cx="5492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492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549282">
                    <a:moveTo>
                      <a:pt x="20015" y="0"/>
                    </a:moveTo>
                    <a:lnTo>
                      <a:pt x="529267" y="0"/>
                    </a:lnTo>
                    <a:cubicBezTo>
                      <a:pt x="534575" y="0"/>
                      <a:pt x="539666" y="2109"/>
                      <a:pt x="543420" y="5862"/>
                    </a:cubicBezTo>
                    <a:cubicBezTo>
                      <a:pt x="547173" y="9616"/>
                      <a:pt x="549282" y="14707"/>
                      <a:pt x="549282" y="20015"/>
                    </a:cubicBezTo>
                    <a:lnTo>
                      <a:pt x="549282" y="792785"/>
                    </a:lnTo>
                    <a:cubicBezTo>
                      <a:pt x="549282" y="803839"/>
                      <a:pt x="540321" y="812800"/>
                      <a:pt x="529267" y="812800"/>
                    </a:cubicBezTo>
                    <a:lnTo>
                      <a:pt x="20015" y="812800"/>
                    </a:lnTo>
                    <a:cubicBezTo>
                      <a:pt x="8961" y="812800"/>
                      <a:pt x="0" y="803839"/>
                      <a:pt x="0" y="792785"/>
                    </a:cubicBezTo>
                    <a:lnTo>
                      <a:pt x="0" y="20015"/>
                    </a:lnTo>
                    <a:cubicBezTo>
                      <a:pt x="0" y="8961"/>
                      <a:pt x="8961" y="0"/>
                      <a:pt x="20015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104" t="0" r="-6432" b="-34164"/>
                </a:stretch>
              </a:blipFill>
              <a:ln w="47625" cap="sq">
                <a:solidFill>
                  <a:srgbClr val="94A3B8"/>
                </a:solidFill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7853981" y="1242952"/>
              <a:ext cx="14966169" cy="9921240"/>
              <a:chOff x="0" y="0"/>
              <a:chExt cx="1226107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261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226107">
                    <a:moveTo>
                      <a:pt x="8966" y="0"/>
                    </a:moveTo>
                    <a:lnTo>
                      <a:pt x="1217141" y="0"/>
                    </a:lnTo>
                    <a:cubicBezTo>
                      <a:pt x="1219519" y="0"/>
                      <a:pt x="1221799" y="945"/>
                      <a:pt x="1223481" y="2626"/>
                    </a:cubicBezTo>
                    <a:cubicBezTo>
                      <a:pt x="1225162" y="4308"/>
                      <a:pt x="1226107" y="6588"/>
                      <a:pt x="1226107" y="8966"/>
                    </a:cubicBezTo>
                    <a:lnTo>
                      <a:pt x="1226107" y="803834"/>
                    </a:lnTo>
                    <a:cubicBezTo>
                      <a:pt x="1226107" y="808786"/>
                      <a:pt x="1222093" y="812800"/>
                      <a:pt x="1217141" y="812800"/>
                    </a:cubicBezTo>
                    <a:lnTo>
                      <a:pt x="8966" y="812800"/>
                    </a:lnTo>
                    <a:cubicBezTo>
                      <a:pt x="6588" y="812800"/>
                      <a:pt x="4308" y="811855"/>
                      <a:pt x="2626" y="810174"/>
                    </a:cubicBezTo>
                    <a:cubicBezTo>
                      <a:pt x="945" y="808492"/>
                      <a:pt x="0" y="806212"/>
                      <a:pt x="0" y="803834"/>
                    </a:cubicBezTo>
                    <a:lnTo>
                      <a:pt x="0" y="8966"/>
                    </a:lnTo>
                    <a:cubicBezTo>
                      <a:pt x="0" y="6588"/>
                      <a:pt x="945" y="4308"/>
                      <a:pt x="2626" y="2626"/>
                    </a:cubicBezTo>
                    <a:cubicBezTo>
                      <a:pt x="4308" y="945"/>
                      <a:pt x="6588" y="0"/>
                      <a:pt x="8966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521" t="0" r="-16471" b="0"/>
                </a:stretch>
              </a:blipFill>
              <a:ln w="47625" cap="sq">
                <a:solidFill>
                  <a:srgbClr val="94A3B8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1214080" y="0"/>
              <a:ext cx="1828800" cy="1828800"/>
              <a:chOff x="0" y="0"/>
              <a:chExt cx="1828800" cy="1828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28800" cy="1828800"/>
              </a:xfrm>
              <a:custGeom>
                <a:avLst/>
                <a:gdLst/>
                <a:ahLst/>
                <a:cxnLst/>
                <a:rect r="r" b="b" t="t" l="l"/>
                <a:pathLst>
                  <a:path h="1828800" w="1828800">
                    <a:moveTo>
                      <a:pt x="0" y="0"/>
                    </a:moveTo>
                    <a:lnTo>
                      <a:pt x="1828800" y="0"/>
                    </a:lnTo>
                    <a:lnTo>
                      <a:pt x="1828800" y="1828800"/>
                    </a:lnTo>
                    <a:lnTo>
                      <a:pt x="0" y="1828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5236" t="0" r="-4581" b="-9818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7886305" y="11531943"/>
              <a:ext cx="14394575" cy="7492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Filterable &amp; sortable table: customerID, ChurnProbability, ChurnRisk, Contract, InternetService, MonthlyCharges, OfferTitle. CSV export.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35280" y="11367392"/>
              <a:ext cx="6554614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</a:t>
              </a:r>
              <a:r>
                <a:rPr lang="en-US" b="true" sz="1800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ison table (Accuracy, Precision, Recall, F1, ROC-AUC), confusion matrix heatmap, feature importance chart, ROC-AUC bar chart.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Screenshots &amp; Reports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Cases — Unit Test Plan (ETL Pipeline)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1316736"/>
          <a:ext cx="17170400" cy="8382000"/>
        </p:xfrm>
        <a:graphic>
          <a:graphicData uri="http://schemas.openxmlformats.org/drawingml/2006/table">
            <a:tbl>
              <a:tblPr/>
              <a:tblGrid>
                <a:gridCol w="1568741"/>
                <a:gridCol w="4564986"/>
                <a:gridCol w="5200553"/>
                <a:gridCol w="5836120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 / Condition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Validate columns —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 required columns present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exception raised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Validate columns — fail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Missing column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ValueError raised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shape correct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Sample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shape[1] == 21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CustomerID unique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Sample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IDs only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TC-E05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not empty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Loaded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len(df) &gt; 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TotalCharges numeric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Cleaned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dtype == float64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null TotalCharges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Raw blank values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nulls remain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duplicate rows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Cleaned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duplicates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TC-C04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Strings stripped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Object columns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extra spaces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Churn binary encoded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Transformed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Values in {0,1}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Contract preserved after OHE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After encoding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Column exists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TC-T03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InternetService preserved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After encoding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Column exists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TC-F01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AnnualRevenue calculation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Monthly × 12 correct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TC-F02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LoyaltyScore range valid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Featured DataFrame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≤ score ≤ 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Cases — ML, Prediction, Auth &amp; Acceptance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1316736"/>
            <a:ext cx="10241280" cy="548640"/>
            <a:chOff x="0" y="0"/>
            <a:chExt cx="136550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55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655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Tests — ML, Prediction &amp; Auth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548640" y="1920240"/>
          <a:ext cx="10210800" cy="5486400"/>
        </p:xfrm>
        <a:graphic>
          <a:graphicData uri="http://schemas.openxmlformats.org/drawingml/2006/table">
            <a:tbl>
              <a:tblPr/>
              <a:tblGrid>
                <a:gridCol w="1654039"/>
                <a:gridCol w="5002337"/>
                <a:gridCol w="3554424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TC-P01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 returns dictionary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 keys returned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TC-P02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Probability range valid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 ≤ p ≤ 1.0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TC-R01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High-risk contract offer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 assigned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TC-R02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Retention call for very high-risk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RETENTION_CALL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TC-R03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Offer fields present in output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Required fields exist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Password hash verify — correct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Verification succeeds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Wrong password fails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Verification fails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TC-A03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Add/delete user flow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 added then removed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11155680" y="1316736"/>
            <a:ext cx="6583680" cy="548640"/>
            <a:chOff x="0" y="0"/>
            <a:chExt cx="8778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Acceptance Test Results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1155680" y="1920240"/>
          <a:ext cx="6553200" cy="6705600"/>
        </p:xfrm>
        <a:graphic>
          <a:graphicData uri="http://schemas.openxmlformats.org/drawingml/2006/table">
            <a:tbl>
              <a:tblPr/>
              <a:tblGrid>
                <a:gridCol w="1194672"/>
                <a:gridCol w="3624005"/>
                <a:gridCol w="1734524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AT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Scenario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Login with valid credentials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Wrong password — access denied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Run ETL — CSV generated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 KPIs displayed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High-risk prediction → offer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high-risk 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CSV export download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 adds new user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 restriction enforced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AT-10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Access log timestamps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Results Summary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194560" y="1316736"/>
          <a:ext cx="13843000" cy="7543800"/>
        </p:xfrm>
        <a:graphic>
          <a:graphicData uri="http://schemas.openxmlformats.org/drawingml/2006/table">
            <a:tbl>
              <a:tblPr/>
              <a:tblGrid>
                <a:gridCol w="5439933"/>
                <a:gridCol w="2371510"/>
                <a:gridCol w="2191014"/>
                <a:gridCol w="2100767"/>
                <a:gridCol w="1739776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Class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 Tests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Skipped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Failed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TestExtract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TestCleaning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TestTransform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TestFeatureEngineering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TestValidation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TestPredict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TestRecommend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TestAuth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TestConfig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2194560" y="8837676"/>
            <a:ext cx="13898880" cy="841248"/>
            <a:chOff x="0" y="0"/>
            <a:chExt cx="18531840" cy="112166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8531840" cy="1121664"/>
              <a:chOff x="0" y="0"/>
              <a:chExt cx="18531840" cy="112166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8531839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18531839">
                    <a:moveTo>
                      <a:pt x="0" y="195072"/>
                    </a:moveTo>
                    <a:cubicBezTo>
                      <a:pt x="0" y="87376"/>
                      <a:pt x="87376" y="0"/>
                      <a:pt x="195072" y="0"/>
                    </a:cubicBezTo>
                    <a:lnTo>
                      <a:pt x="18336768" y="0"/>
                    </a:lnTo>
                    <a:cubicBezTo>
                      <a:pt x="18444463" y="0"/>
                      <a:pt x="18531839" y="87376"/>
                      <a:pt x="18531839" y="195072"/>
                    </a:cubicBezTo>
                    <a:lnTo>
                      <a:pt x="18531839" y="926592"/>
                    </a:lnTo>
                    <a:cubicBezTo>
                      <a:pt x="18531839" y="1034288"/>
                      <a:pt x="18444463" y="1121664"/>
                      <a:pt x="18336768" y="1121664"/>
                    </a:cubicBezTo>
                    <a:lnTo>
                      <a:pt x="195072" y="1121664"/>
                    </a:lnTo>
                    <a:cubicBezTo>
                      <a:pt x="87376" y="1121664"/>
                      <a:pt x="0" y="1034288"/>
                      <a:pt x="0" y="926592"/>
                    </a:cubicBezTo>
                    <a:close/>
                  </a:path>
                </a:pathLst>
              </a:custGeom>
              <a:solidFill>
                <a:srgbClr val="052E16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8531840" cy="1121664"/>
              <a:chOff x="0" y="0"/>
              <a:chExt cx="18531840" cy="112166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531839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18531839">
                    <a:moveTo>
                      <a:pt x="0" y="0"/>
                    </a:moveTo>
                    <a:lnTo>
                      <a:pt x="18531839" y="0"/>
                    </a:lnTo>
                    <a:lnTo>
                      <a:pt x="18531839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1926" r="0" b="-27192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18531840" cy="11788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10B981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🎯  100% Pass Rate — All 48 unit tests passed across 9 test classes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of the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1358903"/>
            <a:ext cx="17216123" cy="1177547"/>
            <a:chOff x="0" y="0"/>
            <a:chExt cx="22954831" cy="15700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1569974"/>
            </a:xfrm>
            <a:custGeom>
              <a:avLst/>
              <a:gdLst/>
              <a:ahLst/>
              <a:cxnLst/>
              <a:rect r="r" b="b" t="t" l="l"/>
              <a:pathLst>
                <a:path h="1569974" w="22954743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22830155" y="0"/>
                  </a:lnTo>
                  <a:cubicBezTo>
                    <a:pt x="22898990" y="0"/>
                    <a:pt x="22954743" y="55753"/>
                    <a:pt x="22954743" y="124587"/>
                  </a:cubicBezTo>
                  <a:lnTo>
                    <a:pt x="22954743" y="1445387"/>
                  </a:lnTo>
                  <a:cubicBezTo>
                    <a:pt x="22954743" y="1514221"/>
                    <a:pt x="22898990" y="1569974"/>
                    <a:pt x="22830155" y="1569974"/>
                  </a:cubicBezTo>
                  <a:lnTo>
                    <a:pt x="124587" y="1569974"/>
                  </a:lnTo>
                  <a:cubicBezTo>
                    <a:pt x="55753" y="1569974"/>
                    <a:pt x="0" y="1514221"/>
                    <a:pt x="0" y="1445387"/>
                  </a:cubicBez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761239"/>
            <a:ext cx="354587" cy="354587"/>
            <a:chOff x="0" y="0"/>
            <a:chExt cx="472783" cy="4727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" y="1371600"/>
            <a:ext cx="16459200" cy="1152144"/>
            <a:chOff x="0" y="0"/>
            <a:chExt cx="21945600" cy="1536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94560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Scope: </a:t>
              </a: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IBM Telco sample (7,043 records) — may not fully represent all telecom segments, regional billing patterns, or enterprise-scale volumes.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5943" y="2657351"/>
            <a:ext cx="17216123" cy="1177547"/>
            <a:chOff x="0" y="0"/>
            <a:chExt cx="22954831" cy="15700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54743" cy="1569974"/>
            </a:xfrm>
            <a:custGeom>
              <a:avLst/>
              <a:gdLst/>
              <a:ahLst/>
              <a:cxnLst/>
              <a:rect r="r" b="b" t="t" l="l"/>
              <a:pathLst>
                <a:path h="1569974" w="22954743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22830155" y="0"/>
                  </a:lnTo>
                  <a:cubicBezTo>
                    <a:pt x="22898990" y="0"/>
                    <a:pt x="22954743" y="55753"/>
                    <a:pt x="22954743" y="124587"/>
                  </a:cubicBezTo>
                  <a:lnTo>
                    <a:pt x="22954743" y="1445387"/>
                  </a:lnTo>
                  <a:cubicBezTo>
                    <a:pt x="22954743" y="1514221"/>
                    <a:pt x="22898990" y="1569974"/>
                    <a:pt x="22830155" y="1569974"/>
                  </a:cubicBezTo>
                  <a:lnTo>
                    <a:pt x="124587" y="1569974"/>
                  </a:lnTo>
                  <a:cubicBezTo>
                    <a:pt x="55753" y="1569974"/>
                    <a:pt x="0" y="1514221"/>
                    <a:pt x="0" y="1445387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18823" y="3059687"/>
            <a:ext cx="354587" cy="354587"/>
            <a:chOff x="0" y="0"/>
            <a:chExt cx="472783" cy="4727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2670048"/>
            <a:ext cx="16459200" cy="1152144"/>
            <a:chOff x="0" y="0"/>
            <a:chExt cx="21945600" cy="15361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Rule-Based Offers: </a:t>
              </a: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Retention engine uses rule-based logic. Collaborative filtering or reinforcement learning would yield more granular, personalised recommendations.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955799"/>
            <a:ext cx="17216123" cy="1177547"/>
            <a:chOff x="0" y="0"/>
            <a:chExt cx="22954831" cy="15700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954743" cy="1569974"/>
            </a:xfrm>
            <a:custGeom>
              <a:avLst/>
              <a:gdLst/>
              <a:ahLst/>
              <a:cxnLst/>
              <a:rect r="r" b="b" t="t" l="l"/>
              <a:pathLst>
                <a:path h="1569974" w="22954743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22830155" y="0"/>
                  </a:lnTo>
                  <a:cubicBezTo>
                    <a:pt x="22898990" y="0"/>
                    <a:pt x="22954743" y="55753"/>
                    <a:pt x="22954743" y="124587"/>
                  </a:cubicBezTo>
                  <a:lnTo>
                    <a:pt x="22954743" y="1445387"/>
                  </a:lnTo>
                  <a:cubicBezTo>
                    <a:pt x="22954743" y="1514221"/>
                    <a:pt x="22898990" y="1569974"/>
                    <a:pt x="22830155" y="1569974"/>
                  </a:cubicBezTo>
                  <a:lnTo>
                    <a:pt x="124587" y="1569974"/>
                  </a:lnTo>
                  <a:cubicBezTo>
                    <a:pt x="55753" y="1569974"/>
                    <a:pt x="0" y="1514221"/>
                    <a:pt x="0" y="1445387"/>
                  </a:cubicBez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18823" y="4358135"/>
            <a:ext cx="354587" cy="354587"/>
            <a:chOff x="0" y="0"/>
            <a:chExt cx="472783" cy="4727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" y="3968496"/>
            <a:ext cx="16459200" cy="1152144"/>
            <a:chOff x="0" y="0"/>
            <a:chExt cx="21945600" cy="15361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194560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 Storage: </a:t>
              </a: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credentials stored in a flat users.json file. A dedicated PostgreSQL users table would be more robust and auditable at enterprise scale.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5943" y="5254247"/>
            <a:ext cx="17216123" cy="1177547"/>
            <a:chOff x="0" y="0"/>
            <a:chExt cx="22954831" cy="15700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954743" cy="1569974"/>
            </a:xfrm>
            <a:custGeom>
              <a:avLst/>
              <a:gdLst/>
              <a:ahLst/>
              <a:cxnLst/>
              <a:rect r="r" b="b" t="t" l="l"/>
              <a:pathLst>
                <a:path h="1569974" w="22954743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22830155" y="0"/>
                  </a:lnTo>
                  <a:cubicBezTo>
                    <a:pt x="22898990" y="0"/>
                    <a:pt x="22954743" y="55753"/>
                    <a:pt x="22954743" y="124587"/>
                  </a:cubicBezTo>
                  <a:lnTo>
                    <a:pt x="22954743" y="1445387"/>
                  </a:lnTo>
                  <a:cubicBezTo>
                    <a:pt x="22954743" y="1514221"/>
                    <a:pt x="22898990" y="1569974"/>
                    <a:pt x="22830155" y="1569974"/>
                  </a:cubicBezTo>
                  <a:lnTo>
                    <a:pt x="124587" y="1569974"/>
                  </a:lnTo>
                  <a:cubicBezTo>
                    <a:pt x="55753" y="1569974"/>
                    <a:pt x="0" y="1514221"/>
                    <a:pt x="0" y="1445387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5656583"/>
            <a:ext cx="354587" cy="354587"/>
            <a:chOff x="0" y="0"/>
            <a:chExt cx="472783" cy="4727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88720" y="5266944"/>
            <a:ext cx="16459200" cy="1152144"/>
            <a:chOff x="0" y="0"/>
            <a:chExt cx="21945600" cy="15361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194560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Real-Time Ingestion: </a:t>
              </a: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 dashboard does not support real-time data. The ETL pipeline must be re-run manually to refresh customer scores and recommendations.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35943" y="6552695"/>
            <a:ext cx="17216123" cy="1177547"/>
            <a:chOff x="0" y="0"/>
            <a:chExt cx="22954831" cy="15700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954743" cy="1569974"/>
            </a:xfrm>
            <a:custGeom>
              <a:avLst/>
              <a:gdLst/>
              <a:ahLst/>
              <a:cxnLst/>
              <a:rect r="r" b="b" t="t" l="l"/>
              <a:pathLst>
                <a:path h="1569974" w="22954743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22830155" y="0"/>
                  </a:lnTo>
                  <a:cubicBezTo>
                    <a:pt x="22898990" y="0"/>
                    <a:pt x="22954743" y="55753"/>
                    <a:pt x="22954743" y="124587"/>
                  </a:cubicBezTo>
                  <a:lnTo>
                    <a:pt x="22954743" y="1445387"/>
                  </a:lnTo>
                  <a:cubicBezTo>
                    <a:pt x="22954743" y="1514221"/>
                    <a:pt x="22898990" y="1569974"/>
                    <a:pt x="22830155" y="1569974"/>
                  </a:cubicBezTo>
                  <a:lnTo>
                    <a:pt x="124587" y="1569974"/>
                  </a:lnTo>
                  <a:cubicBezTo>
                    <a:pt x="55753" y="1569974"/>
                    <a:pt x="0" y="1514221"/>
                    <a:pt x="0" y="1445387"/>
                  </a:cubicBez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18823" y="6955031"/>
            <a:ext cx="354587" cy="354587"/>
            <a:chOff x="0" y="0"/>
            <a:chExt cx="472783" cy="47278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" y="6565392"/>
            <a:ext cx="16459200" cy="1152144"/>
            <a:chOff x="0" y="0"/>
            <a:chExt cx="21945600" cy="15361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194560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 — Local Mode: </a:t>
              </a: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PySpark currently runs in local mode. Distributed cluster deployment (AWS EMR, Databricks, or Azure HDInsight) is needed for true enterprise scalability.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7851143"/>
            <a:ext cx="17216123" cy="1177547"/>
            <a:chOff x="0" y="0"/>
            <a:chExt cx="22954831" cy="15700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954743" cy="1569974"/>
            </a:xfrm>
            <a:custGeom>
              <a:avLst/>
              <a:gdLst/>
              <a:ahLst/>
              <a:cxnLst/>
              <a:rect r="r" b="b" t="t" l="l"/>
              <a:pathLst>
                <a:path h="1569974" w="22954743">
                  <a:moveTo>
                    <a:pt x="0" y="124587"/>
                  </a:moveTo>
                  <a:cubicBezTo>
                    <a:pt x="0" y="55753"/>
                    <a:pt x="55753" y="0"/>
                    <a:pt x="124587" y="0"/>
                  </a:cubicBezTo>
                  <a:lnTo>
                    <a:pt x="22830155" y="0"/>
                  </a:lnTo>
                  <a:cubicBezTo>
                    <a:pt x="22898990" y="0"/>
                    <a:pt x="22954743" y="55753"/>
                    <a:pt x="22954743" y="124587"/>
                  </a:cubicBezTo>
                  <a:lnTo>
                    <a:pt x="22954743" y="1445387"/>
                  </a:lnTo>
                  <a:cubicBezTo>
                    <a:pt x="22954743" y="1514221"/>
                    <a:pt x="22898990" y="1569974"/>
                    <a:pt x="22830155" y="1569974"/>
                  </a:cubicBezTo>
                  <a:lnTo>
                    <a:pt x="124587" y="1569974"/>
                  </a:lnTo>
                  <a:cubicBezTo>
                    <a:pt x="55753" y="1569974"/>
                    <a:pt x="0" y="1514221"/>
                    <a:pt x="0" y="1445387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18823" y="8253479"/>
            <a:ext cx="354587" cy="354587"/>
            <a:chOff x="0" y="0"/>
            <a:chExt cx="472783" cy="4727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88720" y="7863840"/>
            <a:ext cx="16459200" cy="1152144"/>
            <a:chOff x="0" y="0"/>
            <a:chExt cx="21945600" cy="15361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1536192"/>
            </a:xfrm>
            <a:custGeom>
              <a:avLst/>
              <a:gdLst/>
              <a:ahLst/>
              <a:cxnLst/>
              <a:rect r="r" b="b" t="t" l="l"/>
              <a:pathLst>
                <a:path h="15361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1945600" cy="1583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Notifications: </a:t>
              </a:r>
              <a:r>
                <a:rPr lang="en-US" sz="23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email or SMS notification when a customer crosses the high-risk threshold — limiting proactive retention team response.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Enhancements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02336" y="1316736"/>
            <a:ext cx="4169664" cy="3511296"/>
            <a:chOff x="0" y="0"/>
            <a:chExt cx="5559552" cy="46817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2336" y="1499616"/>
            <a:ext cx="4169664" cy="950976"/>
            <a:chOff x="0" y="0"/>
            <a:chExt cx="5559552" cy="12679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2450592"/>
            <a:ext cx="4169664" cy="658368"/>
            <a:chOff x="0" y="0"/>
            <a:chExt cx="5559552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Apache Airflow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76656" y="3153156"/>
            <a:ext cx="3621024" cy="57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 ETL scheduling using DAGs for daily/weekly data refresh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828032" y="1316736"/>
            <a:ext cx="4169664" cy="3511296"/>
            <a:chOff x="0" y="0"/>
            <a:chExt cx="5559552" cy="46817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28032" y="1499616"/>
            <a:ext cx="4169664" cy="950976"/>
            <a:chOff x="0" y="0"/>
            <a:chExt cx="5559552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28032" y="2450592"/>
            <a:ext cx="4169664" cy="658368"/>
            <a:chOff x="0" y="0"/>
            <a:chExt cx="5559552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Kafka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102352" y="3153156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Apache Kafka for real-time event ingestion and immediate risk recalculation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53728" y="1316736"/>
            <a:ext cx="4169664" cy="3511296"/>
            <a:chOff x="0" y="0"/>
            <a:chExt cx="5559552" cy="46817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53728" y="1499616"/>
            <a:ext cx="4169664" cy="950976"/>
            <a:chOff x="0" y="0"/>
            <a:chExt cx="5559552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53728" y="2450592"/>
            <a:ext cx="4169664" cy="658368"/>
            <a:chOff x="0" y="0"/>
            <a:chExt cx="5559552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 Networks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528048" y="3153156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TensorFlow/PyTorch and AutoML for improved prediction accuracy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679424" y="1316736"/>
            <a:ext cx="4169664" cy="3511296"/>
            <a:chOff x="0" y="0"/>
            <a:chExt cx="5559552" cy="46817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679424" y="1499616"/>
            <a:ext cx="4169664" cy="950976"/>
            <a:chOff x="0" y="0"/>
            <a:chExt cx="5559552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679424" y="2450592"/>
            <a:ext cx="4169664" cy="658368"/>
            <a:chOff x="0" y="0"/>
            <a:chExt cx="5559552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Deployment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953744" y="3153156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AWS (S3+RDS+EC2) or Azure for production-grade availability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02336" y="5120640"/>
            <a:ext cx="4169664" cy="3511296"/>
            <a:chOff x="0" y="0"/>
            <a:chExt cx="5559552" cy="46817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02336" y="5303520"/>
            <a:ext cx="4169664" cy="950976"/>
            <a:chOff x="0" y="0"/>
            <a:chExt cx="5559552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02336" y="6254496"/>
            <a:ext cx="4169664" cy="658368"/>
            <a:chOff x="0" y="0"/>
            <a:chExt cx="5559552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 Explainability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76656" y="6957060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Human-readable explanations for each individual churn prediction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4828032" y="5120640"/>
            <a:ext cx="4169664" cy="3511296"/>
            <a:chOff x="0" y="0"/>
            <a:chExt cx="5559552" cy="46817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828032" y="5303520"/>
            <a:ext cx="4169664" cy="950976"/>
            <a:chOff x="0" y="0"/>
            <a:chExt cx="5559552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28032" y="6254496"/>
            <a:ext cx="4169664" cy="658368"/>
            <a:chOff x="0" y="0"/>
            <a:chExt cx="5559552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Layer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5102352" y="6957060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REST endpoints for CRM and billing system integration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253728" y="5120640"/>
            <a:ext cx="4169664" cy="3511296"/>
            <a:chOff x="0" y="0"/>
            <a:chExt cx="5559552" cy="46817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53728" y="5303520"/>
            <a:ext cx="4169664" cy="950976"/>
            <a:chOff x="0" y="0"/>
            <a:chExt cx="5559552" cy="1267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53728" y="6254496"/>
            <a:ext cx="4169664" cy="658368"/>
            <a:chOff x="0" y="0"/>
            <a:chExt cx="5559552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9528048" y="6957060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Enterprise BI and executive reporting integration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3679424" y="5120640"/>
            <a:ext cx="4169664" cy="3511296"/>
            <a:chOff x="0" y="0"/>
            <a:chExt cx="5559552" cy="46817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559552" cy="4681728"/>
            </a:xfrm>
            <a:custGeom>
              <a:avLst/>
              <a:gdLst/>
              <a:ahLst/>
              <a:cxnLst/>
              <a:rect r="r" b="b" t="t" l="l"/>
              <a:pathLst>
                <a:path h="4681728" w="555955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315712" y="0"/>
                  </a:lnTo>
                  <a:cubicBezTo>
                    <a:pt x="5450332" y="0"/>
                    <a:pt x="5559552" y="109220"/>
                    <a:pt x="5559552" y="243840"/>
                  </a:cubicBezTo>
                  <a:lnTo>
                    <a:pt x="5559552" y="4437888"/>
                  </a:lnTo>
                  <a:cubicBezTo>
                    <a:pt x="5559552" y="4572508"/>
                    <a:pt x="5450332" y="4681728"/>
                    <a:pt x="5315712" y="4681728"/>
                  </a:cubicBezTo>
                  <a:lnTo>
                    <a:pt x="243840" y="4681728"/>
                  </a:lnTo>
                  <a:cubicBezTo>
                    <a:pt x="109220" y="4681728"/>
                    <a:pt x="0" y="4572508"/>
                    <a:pt x="0" y="4437888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679424" y="5303520"/>
            <a:ext cx="4169664" cy="950976"/>
            <a:chOff x="0" y="0"/>
            <a:chExt cx="5559552" cy="12679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5595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04775"/>
              <a:ext cx="5559552" cy="1372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679424" y="6254496"/>
            <a:ext cx="4169664" cy="658368"/>
            <a:chOff x="0" y="0"/>
            <a:chExt cx="5559552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559552" cy="877824"/>
            </a:xfrm>
            <a:custGeom>
              <a:avLst/>
              <a:gdLst/>
              <a:ahLst/>
              <a:cxnLst/>
              <a:rect r="r" b="b" t="t" l="l"/>
              <a:pathLst>
                <a:path h="877824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559552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Snowflake DWH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3953744" y="6957060"/>
            <a:ext cx="3621024" cy="144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Columnar analytical storage for seamless BI tool integration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1335024"/>
            <a:ext cx="16824960" cy="1499616"/>
            <a:chOff x="0" y="0"/>
            <a:chExt cx="22433280" cy="1999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33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612" r="0" b="-1686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43328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project successfully demonstrates the design and implementation of a complete, production-grade ETL pipeline for Telecom Customer Churn Analysis — integrating data engineering, machine learning, and business intelligence into a unified deployable platform built entirely on open-source technologies.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2980944"/>
            <a:ext cx="8412480" cy="1097280"/>
            <a:chOff x="0" y="0"/>
            <a:chExt cx="1121664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0263" y="337058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3584" y="2980944"/>
            <a:ext cx="7534656" cy="1097280"/>
            <a:chOff x="0" y="0"/>
            <a:chExt cx="10046208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Pipeline: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processing of 7,043 customer records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26880" y="2980944"/>
            <a:ext cx="8412480" cy="1097280"/>
            <a:chOff x="0" y="0"/>
            <a:chExt cx="1121664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88503" y="3370583"/>
            <a:ext cx="318011" cy="318011"/>
            <a:chOff x="0" y="0"/>
            <a:chExt cx="424015" cy="4240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10B981"/>
            </a:solidFill>
            <a:ln w="2540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021824" y="2980944"/>
            <a:ext cx="7534656" cy="1097280"/>
            <a:chOff x="0" y="0"/>
            <a:chExt cx="10046208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Pipeline: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models trained; best auto-selected by ROC-AUC; batch scoring applied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8640" y="4261104"/>
            <a:ext cx="8412480" cy="1097280"/>
            <a:chOff x="0" y="0"/>
            <a:chExt cx="112166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0263" y="4650743"/>
            <a:ext cx="318011" cy="318011"/>
            <a:chOff x="0" y="0"/>
            <a:chExt cx="424015" cy="4240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3584" y="4261104"/>
            <a:ext cx="7534656" cy="1097280"/>
            <a:chOff x="0" y="0"/>
            <a:chExt cx="10046208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Classification: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3-tier churn risk (High/Medium/Low) for all customers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26880" y="4261104"/>
            <a:ext cx="8412480" cy="1097280"/>
            <a:chOff x="0" y="0"/>
            <a:chExt cx="1121664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88503" y="4650743"/>
            <a:ext cx="318011" cy="318011"/>
            <a:chOff x="0" y="0"/>
            <a:chExt cx="424015" cy="4240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F59E0B"/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21824" y="4261104"/>
            <a:ext cx="7534656" cy="1097280"/>
            <a:chOff x="0" y="0"/>
            <a:chExt cx="10046208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Retention Engine: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7-strategy personalised offer recommendation engine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8640" y="5541264"/>
            <a:ext cx="8412480" cy="1097280"/>
            <a:chOff x="0" y="0"/>
            <a:chExt cx="1121664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10263" y="5930903"/>
            <a:ext cx="318011" cy="318011"/>
            <a:chOff x="0" y="0"/>
            <a:chExt cx="424015" cy="4240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243584" y="5541264"/>
            <a:ext cx="7534656" cy="1097280"/>
            <a:chOff x="0" y="0"/>
            <a:chExt cx="10046208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5-page Streamlit dashboard with role-based access control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26880" y="5541264"/>
            <a:ext cx="8412480" cy="1097280"/>
            <a:chOff x="0" y="0"/>
            <a:chExt cx="1121664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88503" y="5930903"/>
            <a:ext cx="318011" cy="318011"/>
            <a:chOff x="0" y="0"/>
            <a:chExt cx="424015" cy="42401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021824" y="5541264"/>
            <a:ext cx="7534656" cy="1097280"/>
            <a:chOff x="0" y="0"/>
            <a:chExt cx="10046208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PBKDF2-SHA256 auth with complete audit logging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48640" y="6821424"/>
            <a:ext cx="8412480" cy="1097280"/>
            <a:chOff x="0" y="0"/>
            <a:chExt cx="11216640" cy="1463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10263" y="7211063"/>
            <a:ext cx="318011" cy="318011"/>
            <a:chOff x="0" y="0"/>
            <a:chExt cx="424015" cy="42401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8B5CF6"/>
            </a:solidFill>
            <a:ln w="25400" cap="sq">
              <a:solidFill>
                <a:srgbClr val="8B5CF6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43584" y="6821424"/>
            <a:ext cx="7534656" cy="1097280"/>
            <a:chOff x="0" y="0"/>
            <a:chExt cx="10046208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Enterprise-scale distributed processing demonstrated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26880" y="6821424"/>
            <a:ext cx="8412480" cy="1097280"/>
            <a:chOff x="0" y="0"/>
            <a:chExt cx="11216640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16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21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70336" y="0"/>
                  </a:lnTo>
                  <a:cubicBezTo>
                    <a:pt x="11151108" y="0"/>
                    <a:pt x="11216640" y="65532"/>
                    <a:pt x="11216640" y="146304"/>
                  </a:cubicBezTo>
                  <a:lnTo>
                    <a:pt x="11216640" y="1316736"/>
                  </a:lnTo>
                  <a:cubicBezTo>
                    <a:pt x="11216640" y="1397508"/>
                    <a:pt x="11151108" y="1463040"/>
                    <a:pt x="110703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88503" y="7211063"/>
            <a:ext cx="318011" cy="318011"/>
            <a:chOff x="0" y="0"/>
            <a:chExt cx="424015" cy="42401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021824" y="6821424"/>
            <a:ext cx="7534656" cy="1097280"/>
            <a:chOff x="0" y="0"/>
            <a:chExt cx="10046208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4620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04620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Suite: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pass rate — 48 unit tests across 9 test classes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/ Bibliography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22960" y="1314831"/>
            <a:ext cx="16642080" cy="818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[1] IBM Sample Datasets. (2024). Telco Customer Churn Dataset. Kaggle. https://www.kaggle.com/blastchar/telco-customer-churn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[2] Apache Software Foundation. (2024). PySpark API Documentation — Apache Spark 3.5. https://spark.apache.org/docs/latest/api/python/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[3] Streamlit Inc. (2024). Streamlit Documentation. https://docs.streamlit.io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[4] scikit-learn Developers. (2024). scikit-learn: Machine Learning in Python. JMLR, 12, 2825–2830.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[5] McKinney, W. (2022). Python for Data Analysis (3rd ed.). O'Reilly Media.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[6] SQLAlchemy Authors. (2024). SQLAlchemy Documentation. https://docs.sqlalchemy.org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[7] PostgreSQL Global Development Group. (2024). PostgreSQL 15 Documentation. https://www.postgresql.org/docs/15/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[8] Chen, T., and Guestrin, C. (2016). XGBoost: A Scalable Tree Boosting System. KDD 2016, 785–794.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[9] Plotly Technologies Inc. (2024). Plotly Python Open-Source Graphing Library. https://plotly.com/python/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[10] pytest Development Team. (2024). pytest Documentation. https://docs.pytest.org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[11] Kleppmann, M. (2017). Designing Data-Intensive Applications. O'Reilly Media.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[12] Provost, F., and Fawcett, T. (2013). Data Science for Business. O'Reilly Media.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"/>
            <a:ext cx="15544800" cy="1060704"/>
            <a:chOff x="0" y="0"/>
            <a:chExt cx="20726400" cy="1414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26400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Annexure — Sample Code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6487" y="517655"/>
            <a:ext cx="281435" cy="281435"/>
            <a:chOff x="0" y="0"/>
            <a:chExt cx="375247" cy="3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1316736"/>
            <a:ext cx="8503920" cy="548640"/>
            <a:chOff x="0" y="0"/>
            <a:chExt cx="113385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extract.py — Data Extraction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7200" y="1865376"/>
            <a:ext cx="8503920" cy="3328416"/>
            <a:chOff x="0" y="0"/>
            <a:chExt cx="11338560" cy="4437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4242816"/>
                  </a:lnTo>
                  <a:cubicBezTo>
                    <a:pt x="11338560" y="4350512"/>
                    <a:pt x="11251184" y="4437888"/>
                    <a:pt x="11143488" y="4437888"/>
                  </a:cubicBezTo>
                  <a:lnTo>
                    <a:pt x="195072" y="4437888"/>
                  </a:lnTo>
                  <a:cubicBezTo>
                    <a:pt x="87376" y="4437888"/>
                    <a:pt x="0" y="4350512"/>
                    <a:pt x="0" y="424281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22960" y="2020824"/>
            <a:ext cx="7827264" cy="30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def extract_data(filepath):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os.path.exists(filepath):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FileNotFoundError(...)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df = pd.read_csv(filepath)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validate_columns(df, REQUIRED_COLUMNS)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shutil.copy2(filepath, BACKUP_DATA)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df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880" y="1316736"/>
            <a:ext cx="8503920" cy="548640"/>
            <a:chOff x="0" y="0"/>
            <a:chExt cx="113385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auth.py — Password Hashing (PBKDF2-SHA256)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6880" y="1865376"/>
            <a:ext cx="8503920" cy="3328416"/>
            <a:chOff x="0" y="0"/>
            <a:chExt cx="11338560" cy="44378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4242816"/>
                  </a:lnTo>
                  <a:cubicBezTo>
                    <a:pt x="11338560" y="4350512"/>
                    <a:pt x="11251184" y="4437888"/>
                    <a:pt x="11143488" y="4437888"/>
                  </a:cubicBezTo>
                  <a:lnTo>
                    <a:pt x="195072" y="4437888"/>
                  </a:lnTo>
                  <a:cubicBezTo>
                    <a:pt x="87376" y="4437888"/>
                    <a:pt x="0" y="4350512"/>
                    <a:pt x="0" y="424281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92640" y="2020824"/>
            <a:ext cx="7827264" cy="30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def _hash_password(password):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salt = os.urandom(32).hex()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key = hashlib.pbkdf2_hmac(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"sha256", password.encode(),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salt.encode(), 260_000)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f"{salt}:{key.hex()}"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57200" y="5340096"/>
            <a:ext cx="8503920" cy="548640"/>
            <a:chOff x="0" y="0"/>
            <a:chExt cx="113385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train_model.py — ML Training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7200" y="5888736"/>
            <a:ext cx="8503920" cy="3328416"/>
            <a:chOff x="0" y="0"/>
            <a:chExt cx="11338560" cy="44378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3856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4242816"/>
                  </a:lnTo>
                  <a:cubicBezTo>
                    <a:pt x="11338560" y="4350512"/>
                    <a:pt x="11251184" y="4437888"/>
                    <a:pt x="11143488" y="4437888"/>
                  </a:cubicBezTo>
                  <a:lnTo>
                    <a:pt x="195072" y="4437888"/>
                  </a:lnTo>
                  <a:cubicBezTo>
                    <a:pt x="87376" y="4437888"/>
                    <a:pt x="0" y="4350512"/>
                    <a:pt x="0" y="424281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22960" y="6044184"/>
            <a:ext cx="7827264" cy="30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models = {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"RandomForest": RandomForestClassifier(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n_estimators=200,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class_weight="balanced"),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"GradientBoosting": GradientBoostingClassifier(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n_estimators=150,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learning_rate=0.08),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for name, model in models.items():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auc = roc_auc_score(y_test, model...)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if auc &gt; best_auc: best_model = model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5340096"/>
            <a:ext cx="8503920" cy="548640"/>
            <a:chOff x="0" y="0"/>
            <a:chExt cx="113385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recommend.py — Retention Offer Engine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26880" y="5888736"/>
            <a:ext cx="8503920" cy="3328416"/>
            <a:chOff x="0" y="0"/>
            <a:chExt cx="11338560" cy="44378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38560" cy="4437888"/>
            </a:xfrm>
            <a:custGeom>
              <a:avLst/>
              <a:gdLst/>
              <a:ahLst/>
              <a:cxnLst/>
              <a:rect r="r" b="b" t="t" l="l"/>
              <a:pathLst>
                <a:path h="4437888" w="113385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143488" y="0"/>
                  </a:lnTo>
                  <a:cubicBezTo>
                    <a:pt x="11251184" y="0"/>
                    <a:pt x="11338560" y="87376"/>
                    <a:pt x="11338560" y="195072"/>
                  </a:cubicBezTo>
                  <a:lnTo>
                    <a:pt x="11338560" y="4242816"/>
                  </a:lnTo>
                  <a:cubicBezTo>
                    <a:pt x="11338560" y="4350512"/>
                    <a:pt x="11251184" y="4437888"/>
                    <a:pt x="11143488" y="4437888"/>
                  </a:cubicBezTo>
                  <a:lnTo>
                    <a:pt x="195072" y="4437888"/>
                  </a:lnTo>
                  <a:cubicBezTo>
                    <a:pt x="87376" y="4437888"/>
                    <a:pt x="0" y="4350512"/>
                    <a:pt x="0" y="4242816"/>
                  </a:cubicBezTo>
                  <a:close/>
                </a:path>
              </a:pathLst>
            </a:custGeom>
            <a:solidFill>
              <a:srgbClr val="0B112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92640" y="6044184"/>
            <a:ext cx="7827264" cy="305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def recommend_offer(row):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prob = row["ChurnProbability"]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if prob &gt;= 0.80: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OFFERS["RETENTION_CALL"]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if row["SeniorCitizen"] == 1: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OFFERS["SENIOR_PLAN"]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if "Month-to-month" in row["Contract"]: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OFFERS["CONTRACT_UPGRADE"]</a:t>
            </a:r>
          </a:p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OFFERS["STANDARD_LOYALTY"]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459200" y="182880"/>
            <a:ext cx="1371600" cy="1408176"/>
            <a:chOff x="0" y="0"/>
            <a:chExt cx="1828800" cy="18775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28800" cy="1877568"/>
            </a:xfrm>
            <a:custGeom>
              <a:avLst/>
              <a:gdLst/>
              <a:ahLst/>
              <a:cxnLst/>
              <a:rect r="r" b="b" t="t" l="l"/>
              <a:pathLst>
                <a:path h="187756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77568"/>
                  </a:lnTo>
                  <a:lnTo>
                    <a:pt x="0" y="187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29" t="-15369" r="-14905" b="-16644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0640" y="219456"/>
            <a:ext cx="1316736" cy="1316736"/>
            <a:chOff x="0" y="0"/>
            <a:chExt cx="1755648" cy="1755648"/>
          </a:xfrm>
        </p:grpSpPr>
        <p:sp>
          <p:nvSpPr>
            <p:cNvPr name="Freeform 3" id="3" descr="/home/claude/iims_logo.jpeg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910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B1120"/>
            </a:solidFill>
            <a:ln w="25400" cap="sq">
              <a:solidFill>
                <a:srgbClr val="0B112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2755897" y="-2755897"/>
            <a:ext cx="8255003" cy="8255003"/>
            <a:chOff x="0" y="0"/>
            <a:chExt cx="11006671" cy="11006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06B6D4">
                <a:alpha val="1176"/>
              </a:srgbClr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03303" y="6388103"/>
            <a:ext cx="7340603" cy="7340603"/>
            <a:chOff x="0" y="0"/>
            <a:chExt cx="9787471" cy="9787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0891B2">
                <a:alpha val="784"/>
              </a:srgbClr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550640" y="219456"/>
            <a:ext cx="1316736" cy="1316736"/>
            <a:chOff x="0" y="0"/>
            <a:chExt cx="1755648" cy="1755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200" t="-4200" r="-16101" b="-1610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2697" y="9689087"/>
            <a:ext cx="18313403" cy="610619"/>
            <a:chOff x="0" y="0"/>
            <a:chExt cx="24417871" cy="814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17910" cy="814197"/>
            </a:xfrm>
            <a:custGeom>
              <a:avLst/>
              <a:gdLst/>
              <a:ahLst/>
              <a:cxnLst/>
              <a:rect r="r" b="b" t="t" l="l"/>
              <a:pathLst>
                <a:path h="8141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65760" y="9701784"/>
            <a:ext cx="17556480" cy="585216"/>
            <a:chOff x="0" y="0"/>
            <a:chExt cx="2340864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408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and Implementation of a Scalable Telecom Customer Churn Prediction and Retention Platform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394881"/>
            <a:ext cx="16459200" cy="1815294"/>
            <a:chOff x="0" y="0"/>
            <a:chExt cx="21945600" cy="24203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2420392"/>
            </a:xfrm>
            <a:custGeom>
              <a:avLst/>
              <a:gdLst/>
              <a:ahLst/>
              <a:cxnLst/>
              <a:rect r="r" b="b" t="t" l="l"/>
              <a:pathLst>
                <a:path h="24203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20392"/>
                  </a:lnTo>
                  <a:lnTo>
                    <a:pt x="0" y="24203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926" r="0" b="-17741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0"/>
              <a:ext cx="21945600" cy="261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you!!!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07943" y="4961639"/>
            <a:ext cx="8072123" cy="80267"/>
            <a:chOff x="0" y="0"/>
            <a:chExt cx="10762831" cy="1070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2869" cy="107061"/>
            </a:xfrm>
            <a:custGeom>
              <a:avLst/>
              <a:gdLst/>
              <a:ahLst/>
              <a:cxnLst/>
              <a:rect r="r" b="b" t="t" l="l"/>
              <a:pathLst>
                <a:path h="10706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06B6D4"/>
            </a:solidFill>
            <a:ln w="25400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084064"/>
            <a:ext cx="16459200" cy="1599288"/>
            <a:chOff x="0" y="0"/>
            <a:chExt cx="21945600" cy="21323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132385"/>
            </a:xfrm>
            <a:custGeom>
              <a:avLst/>
              <a:gdLst/>
              <a:ahLst/>
              <a:cxnLst/>
              <a:rect r="r" b="b" t="t" l="l"/>
              <a:pathLst>
                <a:path h="21323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2385"/>
                  </a:lnTo>
                  <a:lnTo>
                    <a:pt x="0" y="21323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93" r="0" b="-2434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1945600" cy="2180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Divyesh S. Joshi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Seat No.: 52419  |  Roll No.: MC24097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DAHMOrDcxCg</dc:identifier>
  <dcterms:modified xsi:type="dcterms:W3CDTF">2011-08-01T06:04:30Z</dcterms:modified>
  <cp:revision>1</cp:revision>
  <dc:title>Telecom_Churn_PPT_v2.pptx</dc:title>
</cp:coreProperties>
</file>